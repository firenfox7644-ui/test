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147479266" r:id="rId5"/>
    <p:sldId id="214747933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2C2D7E-7B0E-4AD9-9A0F-DFA47F937CED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16900-060F-4C24-8A8F-637CE6413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3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0718-27E5-BDC7-5D7D-87C12A97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61880-57D5-06C3-F58C-F68181152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4A6DB-6E30-9891-515F-767D6965F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DD1D3-D866-BFE2-8692-F6B071661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B833A7-A1CD-4039-8731-422AF9FF92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285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0F09-86D8-4560-A46F-415D746AD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8A108-4E40-49B2-A788-5AC619C49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239FE-F97D-45E5-9505-ABDE6A18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516A7-55E4-45FB-9819-106EE65F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D45C8-3EEA-4B8E-AA46-57995C7E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1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57278-8B7E-47EA-AF38-F80EC64D0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FF69A-3A6B-4340-B54A-F6D30198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C11F1-B1A7-4EBE-981A-9149595A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CF311-90E6-4164-966A-61F3874F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10E3-7D6A-4B79-BF85-6237111D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4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4E8C-68F6-4AFB-8F3C-FC2A4EEB1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C4CDD-DBB2-409A-85AD-AE40BD65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29E56-7618-4428-8137-6CAFF3AC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402CA-CCB2-40A0-90D9-C62A742E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43C50-D159-4187-84FF-6C61AD2C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1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5D05-083C-46B7-8E23-A1639417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ADBE-D62F-41D7-9811-24AB562A4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3601D-0AF5-447D-ADEB-9552555A4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5CACF-3B66-4B51-9ABB-965F87D8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F4F52-EC1F-493F-B433-07505EC4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16A16-AFA1-4BAB-8EA6-BF5494AE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1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0A2C-A32A-434B-87AD-CB708DE92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13EA4-7C98-4AB6-9957-EAD14C10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9C6C3-B05D-43E0-AE7E-269137DC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C0F40-6D07-4C9E-8047-0304508D3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33ED2-5336-4CCD-827D-50DDF1371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29EBE-3D87-458B-8DAB-BAE4862E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B5D68-E61C-42E1-AF66-F2D44137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433A4-7566-46BD-9744-8122D2DF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45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18601-A2AE-49A3-BDAC-6AD4056F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013590-96DF-45A8-B733-5227E27E4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2CEEA-5648-4A75-9926-DF1B1832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94B9E-CBD4-4BED-841E-750FFFA2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4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2EB9C8-D386-4AD4-9B3A-1B8B131F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BCA41-6D70-4EA1-85CB-73E9417A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A1421-6017-42AE-845A-028F8128F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5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5DA9-5E15-4B9E-9942-963AE36C4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4E51D-5F28-4D21-BCEA-E6163AC65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2922D-56A6-4B14-8B2C-090CA5975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54209-6779-45A1-8ACA-EE675CD2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291E9-8AE9-4DA7-A96D-80B4FD97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FE233-4CF6-4368-BFC7-69F95988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75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6D47-0407-4D95-9BAC-2B866234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A2F6A7-7ED7-4858-BEAF-21EBA8B93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4829A-9E89-471D-BD5C-0A81D912B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010D0-B053-45B2-9DDD-7D322D20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7B062-757E-40FA-8269-2741BF385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BF8E4-529D-4ECD-95EA-2B9C47BD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6B8C-5A82-4339-820D-980A1D17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E8A46-7805-4F71-A578-7C5A06C68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25111-1CAD-42FB-9AF9-2702104B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3360-8DD0-4D96-9E83-F2414AD5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69084-3A58-45AE-A9C4-AAE9F6A0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9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C7B6CB-73FC-49CB-9B41-100BE1D02B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9554D-8FAB-4E96-BA28-70A2F4828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3D46C-CE0E-4532-88C0-4DFD59EC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8709C-715F-4206-84E6-251354A9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3D64A-8269-4788-862B-10EFD728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6996" y="1178868"/>
            <a:ext cx="9552550" cy="5177482"/>
          </a:xfrm>
        </p:spPr>
        <p:txBody>
          <a:bodyPr>
            <a:normAutofit/>
          </a:bodyPr>
          <a:lstStyle>
            <a:lvl1pPr marL="0" indent="0">
              <a:buNone/>
              <a:defRPr lang="en-US" sz="1800" smtClean="0">
                <a:solidFill>
                  <a:srgbClr val="213F9A"/>
                </a:solidFill>
                <a:effectLst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lnSpc>
                <a:spcPct val="100000"/>
              </a:lnSpc>
            </a:pPr>
            <a:r>
              <a:rPr lang="en-US">
                <a:solidFill>
                  <a:srgbClr val="213F9A"/>
                </a:solidFill>
                <a:latin typeface="Calibri" charset="0"/>
              </a:rPr>
              <a:t>Lorem ipsum dolor sit amet, consectetuer adipiscing elit,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sed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diam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nonummy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nibh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euismod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tincidunt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laoreet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magna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aliquam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erat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volutpat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Lorem ipsum dolor sit amet, consectetuer adipiscing elit,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sed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diam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nonummy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nibh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euismod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tincidunt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laoreet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magna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aliquam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erat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volutpat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wisi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enim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ad minim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veniam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quis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nostrud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exerci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tation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ullamcorper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suscipit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lobortis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nisl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aliquip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ex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ea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commodo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consequat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Duis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autem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vel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iriure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dolor in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hendrerit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in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vulputate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velit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esse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molestie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consequat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vel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illum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feugiat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nulla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facilisis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at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vero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eros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et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accumsan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et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iusto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odio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dignissim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qui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blandit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praesent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luptatum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zzril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delenit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augue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duis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feugait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nulla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facilisi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Lorem ipsum dolor sit amet, consectetuer adipiscing elit,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sed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diam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nonummy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nibh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euismod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tincidunt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laoreet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magna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aliquam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erat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volutpat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wisi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enim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ad minim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veniam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quis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nostrud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exerci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tation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ullamcorper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suscipit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lobortis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nisl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aliquip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ex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ea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commodo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consequat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Duis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autem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vel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iriure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dolor in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hendrerit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in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vulputate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velit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esse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molestie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consequat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vel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illum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feugiat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nulla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facilisis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at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vero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eros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et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accumsan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et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iusto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odio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dignissim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qui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blandit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praesent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luptatum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zzril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delenit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augue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duis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feugait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nulla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facilisi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Lorem ipsum dolor sit amet, consectetuer adipiscing elit,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sed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diam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nonummy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nibh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euismod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tincidunt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laoreet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magna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aliquam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erat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volutpat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wisi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enim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ad. Lorem ipsum dolor sit amet, consectetuer adipiscing elit,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sed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diam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nonummy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nibh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euismod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tincidunt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laoreet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magna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aliquam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erat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volutpat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Lorem ipsum dolor sit amet, consectetuer adipiscing elit,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sed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diam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nonummy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nibh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euismod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tincidunt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ut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laoreet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dolore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magna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aliquam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erat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 </a:t>
            </a:r>
            <a:r>
              <a:rPr lang="en-US" err="1">
                <a:solidFill>
                  <a:srgbClr val="213F9A"/>
                </a:solidFill>
                <a:latin typeface="Calibri" charset="0"/>
              </a:rPr>
              <a:t>volutpat</a:t>
            </a:r>
            <a:r>
              <a:rPr lang="en-US">
                <a:solidFill>
                  <a:srgbClr val="213F9A"/>
                </a:solidFill>
                <a:latin typeface="Calibri" charset="0"/>
              </a:rPr>
              <a:t>. </a:t>
            </a:r>
            <a:endParaRPr lang="en-US">
              <a:solidFill>
                <a:srgbClr val="213F9A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06996" y="404794"/>
            <a:ext cx="8785652" cy="424725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400" b="0">
                <a:solidFill>
                  <a:srgbClr val="A3CFF0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IndiGo Proprietary and Confidential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DA300210-5BBB-E94B-A156-AFCF9696BE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/>
          <p:cNvSpPr>
            <a:spLocks noGrp="1"/>
          </p:cNvSpPr>
          <p:nvPr>
            <p:ph type="dt" sz="half" idx="10"/>
          </p:nvPr>
        </p:nvSpPr>
        <p:spPr>
          <a:xfrm>
            <a:off x="20209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3</a:t>
            </a:r>
            <a:r>
              <a:rPr lang="en-US" baseline="30000"/>
              <a:t>rd</a:t>
            </a:r>
            <a:r>
              <a:rPr lang="en-US"/>
              <a:t> June, 2022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D6BDAD73-6CCC-4858-9B17-8B16AA8297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572641" y="192431"/>
            <a:ext cx="424725" cy="4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8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66D95E-FC2D-461B-AAD6-68F6C4DD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1E566-2FFF-4593-99E3-120688FF1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BA51D-1AC5-467B-8031-562798F43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CB3A1-30D8-428B-A479-FB55091F8BC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5E753-8CE1-48D1-8F12-7F1B2FB84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FFFF8-13CB-45CD-ABE1-75CF47B9A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0AC77-38F3-4CE9-9EA1-BA5C5F74F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2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ACEDD-3BCA-B893-E829-BA53BC4C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EF3FEC5-504A-C329-0753-3D120DA79B97}"/>
              </a:ext>
            </a:extLst>
          </p:cNvPr>
          <p:cNvSpPr/>
          <p:nvPr/>
        </p:nvSpPr>
        <p:spPr>
          <a:xfrm>
            <a:off x="403855" y="785087"/>
            <a:ext cx="11378240" cy="539767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533C836-BB42-E0C7-1E90-6E912497C1D1}"/>
              </a:ext>
            </a:extLst>
          </p:cNvPr>
          <p:cNvSpPr txBox="1">
            <a:spLocks/>
          </p:cNvSpPr>
          <p:nvPr/>
        </p:nvSpPr>
        <p:spPr>
          <a:xfrm>
            <a:off x="696351" y="164307"/>
            <a:ext cx="9930350" cy="5142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0" kern="1200">
                <a:solidFill>
                  <a:srgbClr val="A3CFF0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sz="3200" b="1">
                <a:solidFill>
                  <a:srgbClr val="00009F"/>
                </a:solidFill>
                <a:latin typeface="Bauhaus Harish wk Medium" pitchFamily="2" charset="77"/>
                <a:ea typeface="Open Sans" pitchFamily="34" charset="-122"/>
                <a:cs typeface="Open Sans" pitchFamily="34" charset="-120"/>
              </a:rPr>
              <a:t>RFP Transformation Roadmap FY’27 </a:t>
            </a:r>
            <a:endParaRPr lang="en-US" sz="3200">
              <a:latin typeface="Bauhaus Harish wk Medium" pitchFamily="2" charset="77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0BA334-4561-0BC4-5A07-05B538AD4593}"/>
              </a:ext>
            </a:extLst>
          </p:cNvPr>
          <p:cNvCxnSpPr>
            <a:cxnSpLocks/>
          </p:cNvCxnSpPr>
          <p:nvPr/>
        </p:nvCxnSpPr>
        <p:spPr>
          <a:xfrm>
            <a:off x="2271313" y="798280"/>
            <a:ext cx="0" cy="539192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131150-746B-5BFB-3703-7CBF2B8230D0}"/>
              </a:ext>
            </a:extLst>
          </p:cNvPr>
          <p:cNvCxnSpPr/>
          <p:nvPr/>
        </p:nvCxnSpPr>
        <p:spPr>
          <a:xfrm flipH="1">
            <a:off x="4637800" y="763833"/>
            <a:ext cx="11699" cy="54361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757B0CD-9A86-E32A-DC75-65B41A88A567}"/>
              </a:ext>
            </a:extLst>
          </p:cNvPr>
          <p:cNvCxnSpPr/>
          <p:nvPr/>
        </p:nvCxnSpPr>
        <p:spPr>
          <a:xfrm flipH="1">
            <a:off x="7026681" y="765872"/>
            <a:ext cx="11699" cy="54361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Shape 3">
            <a:extLst>
              <a:ext uri="{FF2B5EF4-FFF2-40B4-BE49-F238E27FC236}">
                <a16:creationId xmlns:a16="http://schemas.microsoft.com/office/drawing/2014/main" id="{056DCBFF-8A49-0FA4-3B39-709D4BBE345C}"/>
              </a:ext>
            </a:extLst>
          </p:cNvPr>
          <p:cNvSpPr/>
          <p:nvPr/>
        </p:nvSpPr>
        <p:spPr>
          <a:xfrm>
            <a:off x="571171" y="45344"/>
            <a:ext cx="46036" cy="554649"/>
          </a:xfrm>
          <a:prstGeom prst="rect">
            <a:avLst/>
          </a:prstGeom>
          <a:solidFill>
            <a:srgbClr val="B3DFFF"/>
          </a:solidFill>
          <a:ln/>
        </p:spPr>
        <p:txBody>
          <a:bodyPr/>
          <a:lstStyle/>
          <a:p>
            <a:endParaRPr lang="en-US" sz="1092">
              <a:latin typeface="Bauhaus Harish wk Medium" pitchFamily="2" charset="77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0FE613B-79E6-A5E5-1F25-4EAA012F045F}"/>
              </a:ext>
            </a:extLst>
          </p:cNvPr>
          <p:cNvCxnSpPr/>
          <p:nvPr/>
        </p:nvCxnSpPr>
        <p:spPr>
          <a:xfrm flipH="1">
            <a:off x="9412522" y="785900"/>
            <a:ext cx="11699" cy="54361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131B529-12EC-C1A9-87FC-2AC08DEDB63C}"/>
              </a:ext>
            </a:extLst>
          </p:cNvPr>
          <p:cNvGrpSpPr/>
          <p:nvPr/>
        </p:nvGrpSpPr>
        <p:grpSpPr>
          <a:xfrm>
            <a:off x="2107002" y="945445"/>
            <a:ext cx="5055734" cy="560911"/>
            <a:chOff x="2318607" y="904882"/>
            <a:chExt cx="27182575" cy="56091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4FAB02D-0620-861A-000A-F28AB07522E5}"/>
                </a:ext>
              </a:extLst>
            </p:cNvPr>
            <p:cNvSpPr txBox="1"/>
            <p:nvPr/>
          </p:nvSpPr>
          <p:spPr>
            <a:xfrm>
              <a:off x="5217048" y="1188794"/>
              <a:ext cx="36071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</a:rPr>
                <a:t>03/26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549B6716-607D-7420-BAA4-CF8C32E11FF5}"/>
                </a:ext>
              </a:extLst>
            </p:cNvPr>
            <p:cNvCxnSpPr>
              <a:cxnSpLocks/>
            </p:cNvCxnSpPr>
            <p:nvPr/>
          </p:nvCxnSpPr>
          <p:spPr>
            <a:xfrm>
              <a:off x="2318607" y="1169094"/>
              <a:ext cx="5178645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DF4C337-A809-DE45-7A95-CAFC308423BB}"/>
                </a:ext>
              </a:extLst>
            </p:cNvPr>
            <p:cNvSpPr txBox="1"/>
            <p:nvPr/>
          </p:nvSpPr>
          <p:spPr>
            <a:xfrm>
              <a:off x="2852281" y="904882"/>
              <a:ext cx="266489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i="1"/>
                <a:t>SOW </a:t>
              </a:r>
              <a:r>
                <a:rPr lang="en-US" sz="1000" i="1"/>
                <a:t>contract expired on </a:t>
              </a:r>
              <a:r>
                <a:rPr lang="en-US" sz="1000" b="1" i="1"/>
                <a:t>31 Mar 2026</a:t>
              </a:r>
              <a:r>
                <a:rPr lang="en-US" sz="1000" i="1"/>
                <a:t>, currently being managed through</a:t>
              </a:r>
              <a:r>
                <a:rPr lang="en-US" sz="1000" b="1" i="1"/>
                <a:t> </a:t>
              </a:r>
              <a:r>
                <a:rPr lang="en-US" sz="1000" b="1" i="1" err="1"/>
                <a:t>TnM</a:t>
              </a:r>
              <a:r>
                <a:rPr lang="en-US" sz="1000" b="1" i="1"/>
                <a:t> model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2620B00D-D892-8F5A-6C78-AB40107A9518}"/>
              </a:ext>
            </a:extLst>
          </p:cNvPr>
          <p:cNvSpPr txBox="1"/>
          <p:nvPr/>
        </p:nvSpPr>
        <p:spPr>
          <a:xfrm>
            <a:off x="10828177" y="1230039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0</a:t>
            </a:r>
            <a:r>
              <a:rPr lang="en-US" sz="1200" b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8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/29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9A1CDE9-C247-ADF0-39AB-A4C22B4470CF}"/>
              </a:ext>
            </a:extLst>
          </p:cNvPr>
          <p:cNvCxnSpPr>
            <a:cxnSpLocks/>
          </p:cNvCxnSpPr>
          <p:nvPr/>
        </p:nvCxnSpPr>
        <p:spPr>
          <a:xfrm>
            <a:off x="3653595" y="1207477"/>
            <a:ext cx="7319303" cy="25021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A364171-D14F-36C4-2082-8A42513F375D}"/>
              </a:ext>
            </a:extLst>
          </p:cNvPr>
          <p:cNvSpPr txBox="1"/>
          <p:nvPr/>
        </p:nvSpPr>
        <p:spPr>
          <a:xfrm>
            <a:off x="4130643" y="1185128"/>
            <a:ext cx="32656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/>
              <a:t>RFP ongoing for a service period of 3 years, vendor TBD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1A91A66-C081-99E6-E8A1-33C8D6544E21}"/>
              </a:ext>
            </a:extLst>
          </p:cNvPr>
          <p:cNvCxnSpPr/>
          <p:nvPr/>
        </p:nvCxnSpPr>
        <p:spPr>
          <a:xfrm>
            <a:off x="406626" y="783245"/>
            <a:ext cx="1137824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A91F8B0-5827-12F1-9214-4421F675D1A8}"/>
              </a:ext>
            </a:extLst>
          </p:cNvPr>
          <p:cNvCxnSpPr>
            <a:cxnSpLocks/>
          </p:cNvCxnSpPr>
          <p:nvPr/>
        </p:nvCxnSpPr>
        <p:spPr>
          <a:xfrm>
            <a:off x="3375480" y="5601286"/>
            <a:ext cx="3569269" cy="0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CED36802-8F10-F1E9-CAB4-613F9EC7C3AB}"/>
              </a:ext>
            </a:extLst>
          </p:cNvPr>
          <p:cNvSpPr txBox="1"/>
          <p:nvPr/>
        </p:nvSpPr>
        <p:spPr>
          <a:xfrm>
            <a:off x="3617856" y="4356278"/>
            <a:ext cx="6045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/>
              <a:t>RFP initiated on 16 Mar 2026 for </a:t>
            </a:r>
            <a:r>
              <a:rPr lang="en-US" sz="1100" b="1" i="1"/>
              <a:t>Document scanning &amp; validation </a:t>
            </a:r>
            <a:r>
              <a:rPr lang="en-US" sz="1100" i="1"/>
              <a:t>capability for a 3-year period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E544223-F84A-271A-43F8-5727F0C14BFA}"/>
              </a:ext>
            </a:extLst>
          </p:cNvPr>
          <p:cNvSpPr txBox="1"/>
          <p:nvPr/>
        </p:nvSpPr>
        <p:spPr>
          <a:xfrm>
            <a:off x="2854686" y="5449511"/>
            <a:ext cx="56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05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/26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87F19E-EBFD-2526-F610-1012774AB8DE}"/>
              </a:ext>
            </a:extLst>
          </p:cNvPr>
          <p:cNvGrpSpPr/>
          <p:nvPr/>
        </p:nvGrpSpPr>
        <p:grpSpPr>
          <a:xfrm>
            <a:off x="2845542" y="4378453"/>
            <a:ext cx="8283466" cy="431146"/>
            <a:chOff x="1650380" y="5059606"/>
            <a:chExt cx="8283466" cy="4311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131F9B-6F1E-45BB-1C44-42948CD28CE5}"/>
                </a:ext>
              </a:extLst>
            </p:cNvPr>
            <p:cNvSpPr txBox="1"/>
            <p:nvPr/>
          </p:nvSpPr>
          <p:spPr>
            <a:xfrm>
              <a:off x="9369268" y="5059606"/>
              <a:ext cx="56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prstClr val="black"/>
                  </a:solidFill>
                  <a:highlight>
                    <a:srgbClr val="FFFF00"/>
                  </a:highlight>
                  <a:latin typeface="Calibri" panose="020F0502020204030204"/>
                </a:rPr>
                <a:t>05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</a:rPr>
                <a:t>/29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277BE50-EB77-224B-0D27-CD1F5FB597FA}"/>
                </a:ext>
              </a:extLst>
            </p:cNvPr>
            <p:cNvCxnSpPr>
              <a:cxnSpLocks/>
            </p:cNvCxnSpPr>
            <p:nvPr/>
          </p:nvCxnSpPr>
          <p:spPr>
            <a:xfrm>
              <a:off x="2129631" y="5299041"/>
              <a:ext cx="7238391" cy="3310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557A7C-2B90-AE67-EF4C-4C5AF30368AC}"/>
                </a:ext>
              </a:extLst>
            </p:cNvPr>
            <p:cNvSpPr txBox="1"/>
            <p:nvPr/>
          </p:nvSpPr>
          <p:spPr>
            <a:xfrm>
              <a:off x="1650380" y="5213753"/>
              <a:ext cx="56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>
                  <a:solidFill>
                    <a:prstClr val="black"/>
                  </a:solidFill>
                  <a:highlight>
                    <a:srgbClr val="FFFF00"/>
                  </a:highlight>
                  <a:latin typeface="Calibri" panose="020F0502020204030204"/>
                </a:rPr>
                <a:t>05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</a:rPr>
                <a:t>/26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F781AC2-ECFC-2ADC-7D60-1F385D1E5C12}"/>
              </a:ext>
            </a:extLst>
          </p:cNvPr>
          <p:cNvSpPr txBox="1"/>
          <p:nvPr/>
        </p:nvSpPr>
        <p:spPr>
          <a:xfrm>
            <a:off x="2294236" y="6203138"/>
            <a:ext cx="2377440" cy="369332"/>
          </a:xfrm>
          <a:prstGeom prst="rect">
            <a:avLst/>
          </a:prstGeom>
          <a:solidFill>
            <a:srgbClr val="00009F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F8CFCD-114B-4308-E155-3BCDDB31E397}"/>
              </a:ext>
            </a:extLst>
          </p:cNvPr>
          <p:cNvSpPr txBox="1"/>
          <p:nvPr/>
        </p:nvSpPr>
        <p:spPr>
          <a:xfrm>
            <a:off x="4650885" y="6190007"/>
            <a:ext cx="2377440" cy="369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F9A"/>
                </a:solidFill>
                <a:effectLst/>
                <a:uLnTx/>
                <a:uFillTx/>
                <a:latin typeface="Calibri" panose="020F0502020204030204"/>
              </a:rPr>
              <a:t>    2027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284BD9-2A3F-100D-18D5-79EAA68A6D12}"/>
              </a:ext>
            </a:extLst>
          </p:cNvPr>
          <p:cNvSpPr txBox="1"/>
          <p:nvPr/>
        </p:nvSpPr>
        <p:spPr>
          <a:xfrm>
            <a:off x="9402284" y="6199939"/>
            <a:ext cx="237744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F9A"/>
                </a:solidFill>
                <a:effectLst/>
                <a:uLnTx/>
                <a:uFillTx/>
                <a:latin typeface="Calibri" panose="020F0502020204030204"/>
              </a:rPr>
              <a:t>2029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302908-5978-2BCD-56F4-596E9E18C247}"/>
              </a:ext>
            </a:extLst>
          </p:cNvPr>
          <p:cNvSpPr txBox="1"/>
          <p:nvPr/>
        </p:nvSpPr>
        <p:spPr>
          <a:xfrm>
            <a:off x="7032934" y="6186585"/>
            <a:ext cx="2377440" cy="369332"/>
          </a:xfrm>
          <a:prstGeom prst="rect">
            <a:avLst/>
          </a:prstGeom>
          <a:solidFill>
            <a:srgbClr val="00009F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2028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AACB6E-8D13-6FC1-6D00-0A207AB299B8}"/>
              </a:ext>
            </a:extLst>
          </p:cNvPr>
          <p:cNvSpPr txBox="1"/>
          <p:nvPr/>
        </p:nvSpPr>
        <p:spPr>
          <a:xfrm>
            <a:off x="393799" y="961148"/>
            <a:ext cx="12823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500" b="1"/>
              <a:t>ITSM SOW to </a:t>
            </a:r>
          </a:p>
          <a:p>
            <a:pPr lvl="0">
              <a:defRPr/>
            </a:pPr>
            <a:r>
              <a:rPr lang="en-US" sz="1500" b="1"/>
              <a:t>MSA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E5139A-52B4-24F8-E2C2-70F9CD2B42EC}"/>
              </a:ext>
            </a:extLst>
          </p:cNvPr>
          <p:cNvSpPr txBox="1"/>
          <p:nvPr/>
        </p:nvSpPr>
        <p:spPr>
          <a:xfrm>
            <a:off x="385992" y="1829545"/>
            <a:ext cx="1901116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500" b="1"/>
              <a:t>Digital Platform </a:t>
            </a:r>
            <a:br>
              <a:rPr lang="en-US" sz="1500" b="1"/>
            </a:br>
            <a:r>
              <a:rPr lang="en-US" sz="1500" b="1"/>
              <a:t>Infra, Analytics &amp;</a:t>
            </a:r>
          </a:p>
          <a:p>
            <a:pPr lvl="0">
              <a:defRPr/>
            </a:pPr>
            <a:r>
              <a:rPr lang="en-US" sz="1500" b="1"/>
              <a:t>Martech</a:t>
            </a:r>
          </a:p>
          <a:p>
            <a:pPr lvl="0">
              <a:defRPr/>
            </a:pPr>
            <a:r>
              <a:rPr lang="en-US" sz="1100" b="1" i="1"/>
              <a:t>Adobe AEM (MS &amp; CS), AA, </a:t>
            </a:r>
            <a:br>
              <a:rPr lang="en-US" sz="1100" b="1" i="1"/>
            </a:br>
            <a:r>
              <a:rPr lang="en-US" sz="1100" b="1" i="1"/>
              <a:t>Campaign &amp; Target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1AC69-1E64-7C12-7BBD-72ECAD013DA4}"/>
              </a:ext>
            </a:extLst>
          </p:cNvPr>
          <p:cNvSpPr txBox="1"/>
          <p:nvPr/>
        </p:nvSpPr>
        <p:spPr>
          <a:xfrm>
            <a:off x="394722" y="3165394"/>
            <a:ext cx="1428853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500" b="1"/>
              <a:t>Notifications &amp; </a:t>
            </a:r>
            <a:br>
              <a:rPr lang="en-US" sz="1500" b="1"/>
            </a:br>
            <a:r>
              <a:rPr lang="en-US" sz="1500" b="1"/>
              <a:t>Engagement</a:t>
            </a:r>
          </a:p>
          <a:p>
            <a:pPr lvl="0">
              <a:defRPr/>
            </a:pPr>
            <a:r>
              <a:rPr lang="en-US" sz="1100" b="1" i="1"/>
              <a:t>Notification 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8C4A8F-D15C-1BC2-6102-24833488643C}"/>
              </a:ext>
            </a:extLst>
          </p:cNvPr>
          <p:cNvSpPr txBox="1"/>
          <p:nvPr/>
        </p:nvSpPr>
        <p:spPr>
          <a:xfrm>
            <a:off x="399791" y="4752202"/>
            <a:ext cx="1915909" cy="89255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defRPr/>
            </a:pPr>
            <a:r>
              <a:rPr lang="en-US" sz="1500" b="1"/>
              <a:t>Identity, Security &amp;</a:t>
            </a:r>
          </a:p>
          <a:p>
            <a:pPr>
              <a:defRPr/>
            </a:pPr>
            <a:r>
              <a:rPr lang="en-US" sz="1500" b="1"/>
              <a:t>Compliance</a:t>
            </a:r>
          </a:p>
          <a:p>
            <a:pPr>
              <a:defRPr/>
            </a:pPr>
            <a:r>
              <a:rPr lang="en-US" sz="1100" b="1" i="1"/>
              <a:t>RFP for Doc Check</a:t>
            </a:r>
          </a:p>
          <a:p>
            <a:pPr>
              <a:defRPr/>
            </a:pPr>
            <a:r>
              <a:rPr lang="en-US" sz="1100" b="1" i="1"/>
              <a:t>RFP for Identity Management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1F99EA4-32EC-F03B-B72E-1AD4B94CDF49}"/>
              </a:ext>
            </a:extLst>
          </p:cNvPr>
          <p:cNvCxnSpPr/>
          <p:nvPr/>
        </p:nvCxnSpPr>
        <p:spPr>
          <a:xfrm>
            <a:off x="403855" y="1854927"/>
            <a:ext cx="1137824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06BE8C8-0B95-F307-520F-3A13FDB91618}"/>
              </a:ext>
            </a:extLst>
          </p:cNvPr>
          <p:cNvCxnSpPr/>
          <p:nvPr/>
        </p:nvCxnSpPr>
        <p:spPr>
          <a:xfrm>
            <a:off x="414938" y="2926610"/>
            <a:ext cx="1137824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18ED8E4-5A3D-EEEF-E57D-681AE71D51AC}"/>
              </a:ext>
            </a:extLst>
          </p:cNvPr>
          <p:cNvCxnSpPr/>
          <p:nvPr/>
        </p:nvCxnSpPr>
        <p:spPr>
          <a:xfrm>
            <a:off x="390002" y="4176566"/>
            <a:ext cx="11378240" cy="0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1C23F91-F1D1-888F-EC55-0598E87609D4}"/>
              </a:ext>
            </a:extLst>
          </p:cNvPr>
          <p:cNvCxnSpPr>
            <a:cxnSpLocks/>
          </p:cNvCxnSpPr>
          <p:nvPr/>
        </p:nvCxnSpPr>
        <p:spPr>
          <a:xfrm>
            <a:off x="2282326" y="5149784"/>
            <a:ext cx="9484309" cy="3382"/>
          </a:xfrm>
          <a:prstGeom prst="line">
            <a:avLst/>
          </a:prstGeom>
          <a:ln w="28575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BAACD1C-5069-74CB-FE41-1DA55380821F}"/>
              </a:ext>
            </a:extLst>
          </p:cNvPr>
          <p:cNvSpPr txBox="1"/>
          <p:nvPr/>
        </p:nvSpPr>
        <p:spPr>
          <a:xfrm>
            <a:off x="2282326" y="1558995"/>
            <a:ext cx="3686579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i="1"/>
              <a:t>Transition from SOW to </a:t>
            </a:r>
            <a:r>
              <a:rPr lang="en-US" sz="1100" b="1" i="1"/>
              <a:t>MSA model</a:t>
            </a:r>
            <a:r>
              <a:rPr lang="en-US" sz="1100" i="1"/>
              <a:t> for ITSM services</a:t>
            </a:r>
            <a:endParaRPr lang="en-US" sz="1100" i="1">
              <a:ea typeface="Calibri"/>
              <a:cs typeface="Calibri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57D5190-765D-1555-5A95-117BF17DD5EB}"/>
              </a:ext>
            </a:extLst>
          </p:cNvPr>
          <p:cNvGrpSpPr/>
          <p:nvPr/>
        </p:nvGrpSpPr>
        <p:grpSpPr>
          <a:xfrm>
            <a:off x="2119320" y="1863525"/>
            <a:ext cx="1420856" cy="780641"/>
            <a:chOff x="1082050" y="685835"/>
            <a:chExt cx="7639348" cy="78064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298A9A4-517F-DA42-0E87-2778D05CC280}"/>
                </a:ext>
              </a:extLst>
            </p:cNvPr>
            <p:cNvSpPr txBox="1"/>
            <p:nvPr/>
          </p:nvSpPr>
          <p:spPr>
            <a:xfrm>
              <a:off x="4417061" y="1189477"/>
              <a:ext cx="3607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</a:rPr>
                <a:t>05/26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FC35E10-CCD5-9A03-A623-1CD2B4257C64}"/>
                </a:ext>
              </a:extLst>
            </p:cNvPr>
            <p:cNvCxnSpPr>
              <a:cxnSpLocks/>
            </p:cNvCxnSpPr>
            <p:nvPr/>
          </p:nvCxnSpPr>
          <p:spPr>
            <a:xfrm>
              <a:off x="1082050" y="1169094"/>
              <a:ext cx="6242087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19A7B9B-2589-9CF4-FFF3-15FD42F7D0A3}"/>
                </a:ext>
              </a:extLst>
            </p:cNvPr>
            <p:cNvSpPr txBox="1"/>
            <p:nvPr/>
          </p:nvSpPr>
          <p:spPr>
            <a:xfrm>
              <a:off x="1690886" y="685835"/>
              <a:ext cx="70305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/>
                <a:t>Contract ending on 31 May 26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7838FCC-159D-3172-56E0-339AA92C71D3}"/>
              </a:ext>
            </a:extLst>
          </p:cNvPr>
          <p:cNvCxnSpPr>
            <a:cxnSpLocks/>
          </p:cNvCxnSpPr>
          <p:nvPr/>
        </p:nvCxnSpPr>
        <p:spPr>
          <a:xfrm>
            <a:off x="3324793" y="2343068"/>
            <a:ext cx="1939840" cy="0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8938729-FFCE-4597-6375-809E77638B6A}"/>
              </a:ext>
            </a:extLst>
          </p:cNvPr>
          <p:cNvSpPr txBox="1"/>
          <p:nvPr/>
        </p:nvSpPr>
        <p:spPr>
          <a:xfrm>
            <a:off x="3202204" y="1955850"/>
            <a:ext cx="19968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/>
              <a:t>Services to be renewed for 1 year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39BFC0-7496-2B3C-FB26-470E134B4CAF}"/>
              </a:ext>
            </a:extLst>
          </p:cNvPr>
          <p:cNvSpPr txBox="1"/>
          <p:nvPr/>
        </p:nvSpPr>
        <p:spPr>
          <a:xfrm>
            <a:off x="4896157" y="2352242"/>
            <a:ext cx="670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05/27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9C28BC7-C9FA-6F8E-6958-992AB5C2350D}"/>
              </a:ext>
            </a:extLst>
          </p:cNvPr>
          <p:cNvGrpSpPr/>
          <p:nvPr/>
        </p:nvGrpSpPr>
        <p:grpSpPr>
          <a:xfrm>
            <a:off x="2015608" y="2964102"/>
            <a:ext cx="1501508" cy="750386"/>
            <a:chOff x="1827230" y="698484"/>
            <a:chExt cx="8072985" cy="75038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3C3047C-9964-8095-6134-18EFEC32A9A5}"/>
                </a:ext>
              </a:extLst>
            </p:cNvPr>
            <p:cNvSpPr txBox="1"/>
            <p:nvPr/>
          </p:nvSpPr>
          <p:spPr>
            <a:xfrm>
              <a:off x="3781425" y="1171871"/>
              <a:ext cx="36071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</a:rPr>
                <a:t>03/26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9D8668C-0195-284E-8B38-CD656BB970BC}"/>
                </a:ext>
              </a:extLst>
            </p:cNvPr>
            <p:cNvCxnSpPr>
              <a:cxnSpLocks/>
            </p:cNvCxnSpPr>
            <p:nvPr/>
          </p:nvCxnSpPr>
          <p:spPr>
            <a:xfrm>
              <a:off x="1827230" y="1169094"/>
              <a:ext cx="4707861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658C984-D0C7-0B80-256B-98E1D5850E2A}"/>
                </a:ext>
              </a:extLst>
            </p:cNvPr>
            <p:cNvSpPr txBox="1"/>
            <p:nvPr/>
          </p:nvSpPr>
          <p:spPr>
            <a:xfrm>
              <a:off x="3051946" y="698484"/>
              <a:ext cx="68482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/>
                <a:t>Contract expired on 31 Mar 2026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000F80FF-D4C9-FF3D-DFCF-C7CED3F177D3}"/>
              </a:ext>
            </a:extLst>
          </p:cNvPr>
          <p:cNvSpPr txBox="1"/>
          <p:nvPr/>
        </p:nvSpPr>
        <p:spPr>
          <a:xfrm>
            <a:off x="10630264" y="3076093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0</a:t>
            </a:r>
            <a:r>
              <a:rPr lang="en-US" sz="1200" b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7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/29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8160C4B-0660-45EC-1563-591753C0293A}"/>
              </a:ext>
            </a:extLst>
          </p:cNvPr>
          <p:cNvCxnSpPr>
            <a:cxnSpLocks/>
          </p:cNvCxnSpPr>
          <p:nvPr/>
        </p:nvCxnSpPr>
        <p:spPr>
          <a:xfrm>
            <a:off x="3372111" y="3214144"/>
            <a:ext cx="7350248" cy="0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2F94FF6-C3EC-6F98-8180-280A1FF010A2}"/>
              </a:ext>
            </a:extLst>
          </p:cNvPr>
          <p:cNvCxnSpPr>
            <a:cxnSpLocks/>
          </p:cNvCxnSpPr>
          <p:nvPr/>
        </p:nvCxnSpPr>
        <p:spPr>
          <a:xfrm>
            <a:off x="3409559" y="3718850"/>
            <a:ext cx="1822044" cy="12561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50DB9291-12A8-BBFF-581B-A1D3AFE67E16}"/>
              </a:ext>
            </a:extLst>
          </p:cNvPr>
          <p:cNvSpPr txBox="1"/>
          <p:nvPr/>
        </p:nvSpPr>
        <p:spPr>
          <a:xfrm>
            <a:off x="5133900" y="3609718"/>
            <a:ext cx="670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03/27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BF9656C-2FA6-C257-2C89-03BBE1A0F505}"/>
              </a:ext>
            </a:extLst>
          </p:cNvPr>
          <p:cNvSpPr txBox="1"/>
          <p:nvPr/>
        </p:nvSpPr>
        <p:spPr>
          <a:xfrm>
            <a:off x="3695699" y="3425023"/>
            <a:ext cx="2745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/>
              <a:t>upshot.ai renewed for </a:t>
            </a:r>
            <a:r>
              <a:rPr lang="en-US" sz="1100" b="1" i="1"/>
              <a:t>1 year</a:t>
            </a:r>
            <a:r>
              <a:rPr lang="en-US" sz="1100" i="1"/>
              <a:t> for </a:t>
            </a:r>
            <a:r>
              <a:rPr lang="en-US" sz="1100" b="1" i="1"/>
              <a:t>6E Breeze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7455F328-67D0-4526-3288-5E32C3F6EF45}"/>
              </a:ext>
            </a:extLst>
          </p:cNvPr>
          <p:cNvCxnSpPr>
            <a:cxnSpLocks/>
          </p:cNvCxnSpPr>
          <p:nvPr/>
        </p:nvCxnSpPr>
        <p:spPr>
          <a:xfrm flipV="1">
            <a:off x="2889447" y="3201614"/>
            <a:ext cx="500374" cy="227166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CB69D6C-74F2-1A53-7D88-1C65FDE2227A}"/>
              </a:ext>
            </a:extLst>
          </p:cNvPr>
          <p:cNvCxnSpPr>
            <a:cxnSpLocks/>
          </p:cNvCxnSpPr>
          <p:nvPr/>
        </p:nvCxnSpPr>
        <p:spPr>
          <a:xfrm>
            <a:off x="2919478" y="3442829"/>
            <a:ext cx="500376" cy="287643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3A9138E8-4B6F-17AC-EBD0-4ED3E7B8EC89}"/>
              </a:ext>
            </a:extLst>
          </p:cNvPr>
          <p:cNvSpPr txBox="1"/>
          <p:nvPr/>
        </p:nvSpPr>
        <p:spPr>
          <a:xfrm>
            <a:off x="4187489" y="2962460"/>
            <a:ext cx="492711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00" i="1"/>
              <a:t>RFP ongoing for consumer platform, service period of 3 years, vendor TBD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3FF8787-774C-6207-2C3E-2646AB7ABF51}"/>
              </a:ext>
            </a:extLst>
          </p:cNvPr>
          <p:cNvSpPr txBox="1"/>
          <p:nvPr/>
        </p:nvSpPr>
        <p:spPr>
          <a:xfrm>
            <a:off x="3562201" y="5325495"/>
            <a:ext cx="604524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i="1"/>
              <a:t>RFP initiated on 6 Mar 2026 for </a:t>
            </a:r>
            <a:r>
              <a:rPr lang="en-US" sz="1100" b="1" i="1"/>
              <a:t>Identity resolution </a:t>
            </a:r>
            <a:r>
              <a:rPr lang="en-US" sz="1100" i="1"/>
              <a:t>across entities and platforms as one time activity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598A43E-5C80-A7C7-7072-6FDACC422BCD}"/>
              </a:ext>
            </a:extLst>
          </p:cNvPr>
          <p:cNvSpPr txBox="1"/>
          <p:nvPr/>
        </p:nvSpPr>
        <p:spPr>
          <a:xfrm>
            <a:off x="7008020" y="5467621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1</a:t>
            </a:r>
            <a:r>
              <a:rPr lang="en-US" sz="1200" b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2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/27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BDE8EA-9181-47DD-9C98-07EA6905435A}"/>
              </a:ext>
            </a:extLst>
          </p:cNvPr>
          <p:cNvCxnSpPr>
            <a:cxnSpLocks/>
          </p:cNvCxnSpPr>
          <p:nvPr/>
        </p:nvCxnSpPr>
        <p:spPr>
          <a:xfrm>
            <a:off x="5342142" y="2347983"/>
            <a:ext cx="6435547" cy="0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2F0C2E6-8F3E-4ACA-89F3-E9629E1FF938}"/>
              </a:ext>
            </a:extLst>
          </p:cNvPr>
          <p:cNvSpPr txBox="1"/>
          <p:nvPr/>
        </p:nvSpPr>
        <p:spPr>
          <a:xfrm>
            <a:off x="5447599" y="2109959"/>
            <a:ext cx="33169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/>
              <a:t>New partner ecosystem replacing/ right sizing Adobe stack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4A7B17-BEE4-5804-D8EB-F9D62C09CB5E}"/>
              </a:ext>
            </a:extLst>
          </p:cNvPr>
          <p:cNvCxnSpPr>
            <a:cxnSpLocks/>
          </p:cNvCxnSpPr>
          <p:nvPr/>
        </p:nvCxnSpPr>
        <p:spPr>
          <a:xfrm>
            <a:off x="3175701" y="1215753"/>
            <a:ext cx="337591" cy="0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FEA099-F2C4-4179-4AA3-61FB8AF28DFE}"/>
              </a:ext>
            </a:extLst>
          </p:cNvPr>
          <p:cNvSpPr txBox="1"/>
          <p:nvPr/>
        </p:nvSpPr>
        <p:spPr>
          <a:xfrm>
            <a:off x="3337982" y="1235453"/>
            <a:ext cx="670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0</a:t>
            </a:r>
            <a:r>
              <a:rPr lang="en-US" sz="1200" b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8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</a:rPr>
              <a:t>/26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E5A4F-A13E-3B34-EFBE-FDE90C869B3D}"/>
              </a:ext>
            </a:extLst>
          </p:cNvPr>
          <p:cNvSpPr txBox="1"/>
          <p:nvPr/>
        </p:nvSpPr>
        <p:spPr>
          <a:xfrm>
            <a:off x="3394762" y="2303851"/>
            <a:ext cx="12399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1"/>
              <a:t>RFP Initiated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509AB-6D3D-3CCB-C621-CD7F13490C55}"/>
              </a:ext>
            </a:extLst>
          </p:cNvPr>
          <p:cNvSpPr txBox="1"/>
          <p:nvPr/>
        </p:nvSpPr>
        <p:spPr>
          <a:xfrm>
            <a:off x="2240341" y="5149784"/>
            <a:ext cx="11579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New Requirement</a:t>
            </a:r>
            <a:endParaRPr lang="en-US" sz="1000" b="1" i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FADF33-D39E-E967-8D4A-2C04E490123F}"/>
              </a:ext>
            </a:extLst>
          </p:cNvPr>
          <p:cNvSpPr txBox="1"/>
          <p:nvPr/>
        </p:nvSpPr>
        <p:spPr>
          <a:xfrm>
            <a:off x="2241665" y="4208479"/>
            <a:ext cx="11579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New Requirement</a:t>
            </a:r>
            <a:endParaRPr lang="en-US" sz="1000" b="1" i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239878-583A-43E4-3C71-35E366E6C3DB}"/>
              </a:ext>
            </a:extLst>
          </p:cNvPr>
          <p:cNvSpPr txBox="1"/>
          <p:nvPr/>
        </p:nvSpPr>
        <p:spPr>
          <a:xfrm>
            <a:off x="2270134" y="2644083"/>
            <a:ext cx="3686579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i="1"/>
              <a:t>Review the entire Adobe stack and plan for replacement</a:t>
            </a:r>
            <a:endParaRPr lang="en-US" sz="1100" i="1">
              <a:ea typeface="Calibri"/>
              <a:cs typeface="Calibri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9D58B3-C72C-CFFC-CCE3-7D218ED6C61B}"/>
              </a:ext>
            </a:extLst>
          </p:cNvPr>
          <p:cNvSpPr txBox="1"/>
          <p:nvPr/>
        </p:nvSpPr>
        <p:spPr>
          <a:xfrm>
            <a:off x="2289439" y="4911138"/>
            <a:ext cx="539752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i="1"/>
              <a:t>Build document scanning and processing capabilities for </a:t>
            </a:r>
            <a:r>
              <a:rPr lang="en-US" sz="1100" b="1" i="1"/>
              <a:t>ease of check-in</a:t>
            </a:r>
            <a:endParaRPr lang="en-US" sz="1100" b="1" i="1">
              <a:ea typeface="Calibri"/>
              <a:cs typeface="Calibr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70FC62-596A-91BA-C0DC-D316E28948C6}"/>
              </a:ext>
            </a:extLst>
          </p:cNvPr>
          <p:cNvSpPr txBox="1"/>
          <p:nvPr/>
        </p:nvSpPr>
        <p:spPr>
          <a:xfrm>
            <a:off x="2305025" y="5765721"/>
            <a:ext cx="761920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i="1">
                <a:ea typeface="Calibri"/>
                <a:cs typeface="Calibri"/>
              </a:rPr>
              <a:t>Review, clean &amp; sync up all identities of users on 6E across IAM, Loyalty system &amp; 1N</a:t>
            </a:r>
            <a:endParaRPr lang="en-US" sz="1100" b="1" i="1">
              <a:ea typeface="Calibri"/>
              <a:cs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C1A93F-89E1-BE6C-AFD0-213089F6DDC0}"/>
              </a:ext>
            </a:extLst>
          </p:cNvPr>
          <p:cNvSpPr txBox="1"/>
          <p:nvPr/>
        </p:nvSpPr>
        <p:spPr>
          <a:xfrm>
            <a:off x="2295535" y="3902250"/>
            <a:ext cx="5397521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i="1">
                <a:ea typeface="Calibri"/>
                <a:cs typeface="Calibri"/>
              </a:rPr>
              <a:t>Transform the notification center and user interactions on app</a:t>
            </a:r>
          </a:p>
        </p:txBody>
      </p:sp>
    </p:spTree>
    <p:extLst>
      <p:ext uri="{BB962C8B-B14F-4D97-AF65-F5344CB8AC3E}">
        <p14:creationId xmlns:p14="http://schemas.microsoft.com/office/powerpoint/2010/main" val="3770746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63C7F-D0A1-74A4-DA1D-777980E4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B427449F-BDF9-7DBE-558B-7FF46D55ECB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3301" y="856108"/>
          <a:ext cx="11081250" cy="5055167"/>
        </p:xfrm>
        <a:graphic>
          <a:graphicData uri="http://schemas.openxmlformats.org/drawingml/2006/table">
            <a:tbl>
              <a:tblPr/>
              <a:tblGrid>
                <a:gridCol w="1312682">
                  <a:extLst>
                    <a:ext uri="{9D8B030D-6E8A-4147-A177-3AD203B41FA5}">
                      <a16:colId xmlns:a16="http://schemas.microsoft.com/office/drawing/2014/main" val="3190571983"/>
                    </a:ext>
                  </a:extLst>
                </a:gridCol>
                <a:gridCol w="825718">
                  <a:extLst>
                    <a:ext uri="{9D8B030D-6E8A-4147-A177-3AD203B41FA5}">
                      <a16:colId xmlns:a16="http://schemas.microsoft.com/office/drawing/2014/main" val="305486655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192875480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4162266288"/>
                    </a:ext>
                  </a:extLst>
                </a:gridCol>
                <a:gridCol w="4167739">
                  <a:extLst>
                    <a:ext uri="{9D8B030D-6E8A-4147-A177-3AD203B41FA5}">
                      <a16:colId xmlns:a16="http://schemas.microsoft.com/office/drawing/2014/main" val="1747197063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1317242690"/>
                    </a:ext>
                  </a:extLst>
                </a:gridCol>
                <a:gridCol w="2282168">
                  <a:extLst>
                    <a:ext uri="{9D8B030D-6E8A-4147-A177-3AD203B41FA5}">
                      <a16:colId xmlns:a16="http://schemas.microsoft.com/office/drawing/2014/main" val="4158583467"/>
                    </a:ext>
                  </a:extLst>
                </a:gridCol>
              </a:tblGrid>
              <a:tr h="66744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Initiatives/Project/Demand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0234" marR="70234" marT="35117" marB="35117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Project/Demand ID/BAU</a:t>
                      </a:r>
                    </a:p>
                  </a:txBody>
                  <a:tcPr marL="70234" marR="70234" marT="35117" marB="35117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Start Date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0234" marR="70234" marT="35117" marB="35117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End Date</a:t>
                      </a:r>
                    </a:p>
                  </a:txBody>
                  <a:tcPr marL="70234" marR="70234" marT="35117" marB="35117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Business KPI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0234" marR="70234" marT="35117" marB="35117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Current Status</a:t>
                      </a:r>
                    </a:p>
                  </a:txBody>
                  <a:tcPr marL="70234" marR="70234" marT="35117" marB="35117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KPI Planned</a:t>
                      </a:r>
                    </a:p>
                  </a:txBody>
                  <a:tcPr marL="70234" marR="70234" marT="35117" marB="35117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727972"/>
                  </a:ext>
                </a:extLst>
              </a:tr>
              <a:tr h="1077339">
                <a:tc>
                  <a:txBody>
                    <a:bodyPr/>
                    <a:lstStyle/>
                    <a:p>
                      <a:pPr lvl="0" algn="l">
                        <a:defRPr/>
                      </a:pPr>
                      <a:endParaRPr lang="en-US" sz="1100" b="1" i="1" dirty="0"/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dirty="0"/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220479"/>
                  </a:ext>
                </a:extLst>
              </a:tr>
              <a:tr h="1077339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629698"/>
                  </a:ext>
                </a:extLst>
              </a:tr>
              <a:tr h="1077339"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650"/>
                        </a:lnSpc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650"/>
                        </a:lnSpc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650"/>
                        </a:lnSpc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650"/>
                        </a:lnSpc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901330"/>
                  </a:ext>
                </a:extLst>
              </a:tr>
              <a:tr h="1077339"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650"/>
                        </a:lnSpc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650"/>
                        </a:lnSpc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650"/>
                        </a:lnSpc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>
                        <a:lnSpc>
                          <a:spcPts val="1650"/>
                        </a:lnSpc>
                        <a:buNone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234" marR="70234" marT="35117" marB="35117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964303"/>
                  </a:ext>
                </a:extLst>
              </a:tr>
            </a:tbl>
          </a:graphicData>
        </a:graphic>
      </p:graphicFrame>
      <p:sp>
        <p:nvSpPr>
          <p:cNvPr id="8" name="Title 2">
            <a:extLst>
              <a:ext uri="{FF2B5EF4-FFF2-40B4-BE49-F238E27FC236}">
                <a16:creationId xmlns:a16="http://schemas.microsoft.com/office/drawing/2014/main" id="{97CF6CA3-D78B-EA98-8B77-A8F03447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1" y="366420"/>
            <a:ext cx="8785652" cy="424725"/>
          </a:xfrm>
        </p:spPr>
        <p:txBody>
          <a:bodyPr/>
          <a:lstStyle/>
          <a:p>
            <a:r>
              <a:rPr lang="en-US" dirty="0">
                <a:solidFill>
                  <a:srgbClr val="00009F"/>
                </a:solidFill>
                <a:latin typeface="Bauhaus Harish wk Medium"/>
              </a:rPr>
              <a:t>ANNUAL PLAN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2A97A43-29BF-57B1-58DF-0436BDC56868}"/>
              </a:ext>
            </a:extLst>
          </p:cNvPr>
          <p:cNvSpPr/>
          <p:nvPr/>
        </p:nvSpPr>
        <p:spPr>
          <a:xfrm>
            <a:off x="507999" y="301459"/>
            <a:ext cx="46036" cy="554649"/>
          </a:xfrm>
          <a:prstGeom prst="rect">
            <a:avLst/>
          </a:prstGeom>
          <a:solidFill>
            <a:srgbClr val="B3DFFF"/>
          </a:solidFill>
          <a:ln/>
        </p:spPr>
        <p:txBody>
          <a:bodyPr/>
          <a:lstStyle/>
          <a:p>
            <a:endParaRPr lang="en-US" sz="1092">
              <a:latin typeface="Bauhaus Harish wk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661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EA78701D9CB74A94E38252BAB16D34" ma:contentTypeVersion="15" ma:contentTypeDescription="Create a new document." ma:contentTypeScope="" ma:versionID="9cd3424a73fb776ce000b1b5bb13b20a">
  <xsd:schema xmlns:xsd="http://www.w3.org/2001/XMLSchema" xmlns:xs="http://www.w3.org/2001/XMLSchema" xmlns:p="http://schemas.microsoft.com/office/2006/metadata/properties" xmlns:ns3="bf2567e6-16f4-4c6b-b0e9-0ea0396e433b" xmlns:ns4="5add0bd2-c77a-462d-bf1b-4bc5b2b102e1" targetNamespace="http://schemas.microsoft.com/office/2006/metadata/properties" ma:root="true" ma:fieldsID="8df173fb0339a05726bf1a29330b6932" ns3:_="" ns4:_="">
    <xsd:import namespace="bf2567e6-16f4-4c6b-b0e9-0ea0396e433b"/>
    <xsd:import namespace="5add0bd2-c77a-462d-bf1b-4bc5b2b102e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DateTake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67e6-16f4-4c6b-b0e9-0ea0396e43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d0bd2-c77a-462d-bf1b-4bc5b2b102e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2567e6-16f4-4c6b-b0e9-0ea0396e433b" xsi:nil="true"/>
  </documentManagement>
</p:properties>
</file>

<file path=customXml/itemProps1.xml><?xml version="1.0" encoding="utf-8"?>
<ds:datastoreItem xmlns:ds="http://schemas.openxmlformats.org/officeDocument/2006/customXml" ds:itemID="{045FC2BF-45DA-453D-BDB9-DBEA118E98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2567e6-16f4-4c6b-b0e9-0ea0396e433b"/>
    <ds:schemaRef ds:uri="5add0bd2-c77a-462d-bf1b-4bc5b2b102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9300DB-39BC-40E7-A607-F656A7E40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0EE906-8131-48CC-A08D-E2FE50252FF2}">
  <ds:schemaRefs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5add0bd2-c77a-462d-bf1b-4bc5b2b102e1"/>
    <ds:schemaRef ds:uri="bf2567e6-16f4-4c6b-b0e9-0ea0396e433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Widescreen</PresentationFormat>
  <Paragraphs>55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Bauhaus Harish wk Medium</vt:lpstr>
      <vt:lpstr>Calibri</vt:lpstr>
      <vt:lpstr>Calibri Light</vt:lpstr>
      <vt:lpstr>Open Sans</vt:lpstr>
      <vt:lpstr>Office Theme</vt:lpstr>
      <vt:lpstr>PowerPoint Presentation</vt:lpstr>
      <vt:lpstr>ANNUAL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Agnihotri (Digital,ISC)(X-IGT Solutions)</dc:creator>
  <cp:lastModifiedBy>Rohit Agnihotri (Digital,ISC)(X-IGT Solutions)</cp:lastModifiedBy>
  <cp:revision>1</cp:revision>
  <dcterms:created xsi:type="dcterms:W3CDTF">2026-06-02T06:45:59Z</dcterms:created>
  <dcterms:modified xsi:type="dcterms:W3CDTF">2026-06-02T06:46:33Z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0x01010005EA78701D9CB74A94E38252BAB16D34</vt:lpwstr>
  </property>
</Properties>
</file>