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sldIdLst>
    <p:sldId id="2147479339" r:id="rId5"/>
    <p:sldId id="259" r:id="rId6"/>
    <p:sldId id="258" r:id="rId7"/>
    <p:sldId id="214747933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64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6066E3-4E69-416C-B915-4C2E66FD24D1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BE60DD-226D-4DF5-B865-9C7AF07FE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957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26409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523721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33648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F3EA5-E54A-4AF8-BF7B-031C515288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6A12E-11B3-4540-AEEA-D2D93453F6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C01088-3B88-4DB4-A7CC-D91630CD7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E407-8EFF-4F19-9181-F2D229DA5871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22E262-4989-49A0-87E4-D385F9FC0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44F150-C345-43BC-BA48-4647EB9D2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0EEAB-7F26-425A-94E6-17873BE3B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333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97E27-B0E9-4A8F-87E0-543C322BF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3A5C7-4FE0-4F71-8B13-E698A5998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369998-44F2-4F06-99E2-03DDEE006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E407-8EFF-4F19-9181-F2D229DA5871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714DE-1383-4D32-9F7D-6FA1DD6C1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6A0612-3552-43F0-B6BA-EE3B4FCD5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0EEAB-7F26-425A-94E6-17873BE3B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5483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82E8F-DA56-4C8E-8C3E-CF1FE33C0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2445D2-4676-45ED-9B63-CBD3E8DF00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84A4CD-B1A0-4670-910D-DB464F4C2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E407-8EFF-4F19-9181-F2D229DA5871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24E46-5907-4BB1-8C1E-E33A95C94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F71EA6-4013-4610-8027-612FF84BE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0EEAB-7F26-425A-94E6-17873BE3B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11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97145-804E-4F3A-86BE-4968A7E1C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696953-BCCC-417C-9A79-DDFB4D9782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969EA3-7652-4BF9-8C2D-19D057BC7C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3AFFAA-7EE9-406C-9D01-29887FE43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E407-8EFF-4F19-9181-F2D229DA5871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6DA549-3128-4C8F-B1FD-41DAB0ACAC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091C3B-63B2-4679-A92E-7BC71B620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0EEAB-7F26-425A-94E6-17873BE3B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560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154B2-9B69-469B-A1CC-522EDCE61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86ACC0-DC71-4FFF-A85D-D5E9A9710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FA528-2E73-4CA7-BD90-6171252F37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71E8B7-D371-4CF7-BF1F-26DD2A01C5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DD2B4A-E3FC-48F6-A262-29BDB363A8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7A6C4E-8225-43DE-AAC5-B41CFFA4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E407-8EFF-4F19-9181-F2D229DA5871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3F271C-1261-4511-B8C3-A882D7589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3A32A4-7CDD-4DE1-90BE-B65245CFA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0EEAB-7F26-425A-94E6-17873BE3B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75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3FFD6-D653-44DD-A80C-DFF268380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4086D8-4DCE-471C-B5AD-CD1F6DEBF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E407-8EFF-4F19-9181-F2D229DA5871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6ACCA8-9D0E-4B03-A78A-173F4D92F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ABEDBB-9F9B-453A-821E-73B8762CB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0EEAB-7F26-425A-94E6-17873BE3B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764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727605-0DAF-497B-8D66-E4DCEECCD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E407-8EFF-4F19-9181-F2D229DA5871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7EC5D0-08D8-449C-A76E-CC3E8CC91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15B877-E470-4C80-9FD7-311CD1ED2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0EEAB-7F26-425A-94E6-17873BE3B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744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63F82-600E-414D-A49C-F6800E175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863F9-0ABD-48FC-9535-3FD42B3C3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77D1C8-26BB-4FEA-95FD-7E7BDB981F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CB97B2-1F03-42CF-A03B-EF8B8035E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E407-8EFF-4F19-9181-F2D229DA5871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F411B4-C03F-4A71-8F2B-0331DB2E2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F1F4DC-BACF-4A29-9524-5BE813AF4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0EEAB-7F26-425A-94E6-17873BE3B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002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D7B1-49CF-4219-B9C5-2ABE590FB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CF4360-A8C5-4F0C-98ED-5B98622280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4EEFDE-2732-4DA2-94E7-48AE9F03BD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970567-D380-4B70-937E-B45364D4E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E407-8EFF-4F19-9181-F2D229DA5871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8289C-A95D-4CB0-9032-95AE9FD94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1F96FE-51B1-4834-9512-D480AA9B9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0EEAB-7F26-425A-94E6-17873BE3B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7495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C36C1-5EEC-4A26-B64C-E7AF4299F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897B3E-0D89-4408-ACC4-2B6D9228CA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5FDEA-C0DF-4163-8995-15F9497F9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E407-8EFF-4F19-9181-F2D229DA5871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25EA9-F4D2-4277-A1CF-EB14ACA22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E74E22-E2A9-4AE9-92DA-DA7BAF2F0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0EEAB-7F26-425A-94E6-17873BE3B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903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3B0E50-C185-4D8A-A0E0-B5F66A7177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74DB37-57BC-4C1B-B251-D4A23F4ED8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90F69D-5FED-4DF7-8027-037F2002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E407-8EFF-4F19-9181-F2D229DA5871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DA12E-2BFB-481F-9BDA-53FF9FDD5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FF655-9946-4F6B-AFEC-DA755752A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0EEAB-7F26-425A-94E6-17873BE3B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1463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77672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06996" y="1178868"/>
            <a:ext cx="9552550" cy="5177482"/>
          </a:xfrm>
        </p:spPr>
        <p:txBody>
          <a:bodyPr>
            <a:normAutofit/>
          </a:bodyPr>
          <a:lstStyle>
            <a:lvl1pPr marL="0" indent="0">
              <a:buNone/>
              <a:defRPr lang="en-US" sz="1800" smtClean="0">
                <a:solidFill>
                  <a:srgbClr val="213F9A"/>
                </a:solidFill>
                <a:effectLst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lnSpc>
                <a:spcPct val="100000"/>
              </a:lnSpc>
            </a:pPr>
            <a:r>
              <a:rPr lang="en-US">
                <a:solidFill>
                  <a:srgbClr val="213F9A"/>
                </a:solidFill>
                <a:latin typeface="Calibri" charset="0"/>
              </a:rPr>
              <a:t>Lorem ipsum dolor sit amet, consectetuer adipiscing elit,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sed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diam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nonummy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nibh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euismod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tincidunt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ut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laoreet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dolore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magna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aliquam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erat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volutpat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. Lorem ipsum dolor sit amet, consectetuer adipiscing elit,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sed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diam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nonummy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nibh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euismod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tincidunt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ut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laoreet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dolore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magna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aliquam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erat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volutpat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.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Ut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wisi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enim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ad minim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veniam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,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quis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nostrud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exerci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tation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ullamcorper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suscipit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lobortis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nisl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ut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aliquip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ex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ea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commodo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consequat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.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Duis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autem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vel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eum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iriure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dolor in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hendrerit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in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vulputate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velit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esse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molestie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consequat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,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vel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illum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dolore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eu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feugiat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nulla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facilisis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at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vero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eros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et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accumsan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et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iusto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odio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dignissim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qui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blandit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praesent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luptatum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zzril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delenit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augue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duis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dolore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te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feugait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nulla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facilisi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. Lorem ipsum dolor sit amet, consectetuer adipiscing elit,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sed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diam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nonummy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nibh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euismod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tincidunt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ut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laoreet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dolore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magna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aliquam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erat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volutpat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.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Ut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wisi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enim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ad minim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veniam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,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quis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nostrud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exerci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tation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ullamcorper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suscipit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lobortis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nisl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ut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aliquip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ex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ea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commodo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consequat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.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Duis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autem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vel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eum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iriure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dolor in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hendrerit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in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vulputate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velit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esse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molestie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consequat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,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vel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illum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dolore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eu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feugiat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nulla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facilisis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at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vero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eros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et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accumsan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et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iusto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odio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dignissim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qui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blandit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praesent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luptatum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zzril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delenit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augue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duis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dolore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te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feugait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nulla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facilisi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. Lorem ipsum dolor sit amet, consectetuer adipiscing elit,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sed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diam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nonummy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nibh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euismod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tincidunt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ut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laoreet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dolore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magna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aliquam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erat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volutpat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.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Ut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wisi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enim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ad. Lorem ipsum dolor sit amet, consectetuer adipiscing elit,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sed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diam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nonummy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nibh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euismod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tincidunt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ut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laoreet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dolore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magna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aliquam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erat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volutpat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. Lorem ipsum dolor sit amet, consectetuer adipiscing elit,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sed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diam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nonummy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nibh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euismod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tincidunt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ut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laoreet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dolore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magna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aliquam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erat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 </a:t>
            </a:r>
            <a:r>
              <a:rPr lang="en-US" err="1">
                <a:solidFill>
                  <a:srgbClr val="213F9A"/>
                </a:solidFill>
                <a:latin typeface="Calibri" charset="0"/>
              </a:rPr>
              <a:t>volutpat</a:t>
            </a:r>
            <a:r>
              <a:rPr lang="en-US">
                <a:solidFill>
                  <a:srgbClr val="213F9A"/>
                </a:solidFill>
                <a:latin typeface="Calibri" charset="0"/>
              </a:rPr>
              <a:t>. </a:t>
            </a:r>
            <a:endParaRPr lang="en-US">
              <a:solidFill>
                <a:srgbClr val="213F9A"/>
              </a:solidFill>
            </a:endParaRPr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406996" y="404794"/>
            <a:ext cx="8785652" cy="424725"/>
          </a:xfrm>
        </p:spPr>
        <p:txBody>
          <a:bodyPr anchor="b">
            <a:noAutofit/>
          </a:bodyPr>
          <a:lstStyle>
            <a:lvl1pPr>
              <a:lnSpc>
                <a:spcPct val="80000"/>
              </a:lnSpc>
              <a:defRPr sz="2400" b="0">
                <a:solidFill>
                  <a:srgbClr val="A3CFF0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IndiGo Proprietary and Confidential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DA300210-5BBB-E94B-A156-AFCF9696BEC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Date Placeholder 13"/>
          <p:cNvSpPr>
            <a:spLocks noGrp="1"/>
          </p:cNvSpPr>
          <p:nvPr>
            <p:ph type="dt" sz="half" idx="10"/>
          </p:nvPr>
        </p:nvSpPr>
        <p:spPr>
          <a:xfrm>
            <a:off x="202096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3</a:t>
            </a:r>
            <a:r>
              <a:rPr lang="en-US" baseline="30000"/>
              <a:t>rd</a:t>
            </a:r>
            <a:r>
              <a:rPr lang="en-US"/>
              <a:t> June, 2022</a:t>
            </a:r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D6BDAD73-6CCC-4858-9B17-8B16AA8297F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1572641" y="192431"/>
            <a:ext cx="424725" cy="4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263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8F5042-F255-4A44-A5B0-8CE9AEA96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1533-6577-4A9D-8982-CD4498907C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666C69-2BA4-4B38-BA8E-FE5BD60365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DAE407-8EFF-4F19-9181-F2D229DA5871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92887B-6FEF-4DF4-BEF0-6C4516F33F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088C4-5926-4CD4-A6B5-335FA9FC1D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EAB-7F26-425A-94E6-17873BE3B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889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Oval 79">
            <a:extLst>
              <a:ext uri="{FF2B5EF4-FFF2-40B4-BE49-F238E27FC236}">
                <a16:creationId xmlns:a16="http://schemas.microsoft.com/office/drawing/2014/main" id="{ABA53060-1234-6649-EE01-758207D406F0}"/>
              </a:ext>
            </a:extLst>
          </p:cNvPr>
          <p:cNvSpPr/>
          <p:nvPr/>
        </p:nvSpPr>
        <p:spPr>
          <a:xfrm>
            <a:off x="3563426" y="2796028"/>
            <a:ext cx="1422400" cy="1422400"/>
          </a:xfrm>
          <a:prstGeom prst="ellipse">
            <a:avLst/>
          </a:prstGeom>
          <a:solidFill>
            <a:srgbClr val="08008F"/>
          </a:solidFill>
          <a:ln w="254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1D443C-40C3-7669-1829-C5232FDD0AE6}"/>
              </a:ext>
            </a:extLst>
          </p:cNvPr>
          <p:cNvSpPr/>
          <p:nvPr/>
        </p:nvSpPr>
        <p:spPr>
          <a:xfrm>
            <a:off x="361950" y="323850"/>
            <a:ext cx="48260" cy="419100"/>
          </a:xfrm>
          <a:prstGeom prst="rect">
            <a:avLst/>
          </a:prstGeom>
          <a:solidFill>
            <a:srgbClr val="B9DDF6"/>
          </a:solidFill>
          <a:ln w="0">
            <a:solidFill>
              <a:srgbClr val="B9DD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AAFA5C-2856-C433-3B52-F813ABA13EEC}"/>
              </a:ext>
            </a:extLst>
          </p:cNvPr>
          <p:cNvSpPr txBox="1"/>
          <p:nvPr/>
        </p:nvSpPr>
        <p:spPr>
          <a:xfrm>
            <a:off x="609600" y="28575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1E3F87"/>
                </a:solidFill>
                <a:latin typeface="Aptos" panose="020B0004020202020204" pitchFamily="34" charset="0"/>
              </a:rPr>
              <a:t>PPB GOVERNANCE | FY27 FOCUS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469658-ED2C-7B11-D5FD-54FC70CB01C7}"/>
              </a:ext>
            </a:extLst>
          </p:cNvPr>
          <p:cNvSpPr txBox="1"/>
          <p:nvPr/>
        </p:nvSpPr>
        <p:spPr>
          <a:xfrm>
            <a:off x="609600" y="45720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300" b="1" dirty="0">
                <a:solidFill>
                  <a:srgbClr val="08008F"/>
                </a:solidFill>
                <a:latin typeface="Aptos" panose="020B0004020202020204" pitchFamily="34" charset="0"/>
              </a:rPr>
              <a:t>PPB Governance Evolution - FY27 Focus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403998-DF5F-5A5B-ED6D-B19BF6D44F94}"/>
              </a:ext>
            </a:extLst>
          </p:cNvPr>
          <p:cNvSpPr txBox="1"/>
          <p:nvPr/>
        </p:nvSpPr>
        <p:spPr>
          <a:xfrm>
            <a:off x="609600" y="852593"/>
            <a:ext cx="838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80" b="1" dirty="0">
                <a:latin typeface="Aptos" panose="020B0004020202020204" pitchFamily="34" charset="0"/>
              </a:rPr>
              <a:t>Making execution visible and outcomes measurable across web &amp; mobile platforms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9304372-7FAC-F15E-4D99-47A42E147011}"/>
              </a:ext>
            </a:extLst>
          </p:cNvPr>
          <p:cNvSpPr/>
          <p:nvPr/>
        </p:nvSpPr>
        <p:spPr>
          <a:xfrm>
            <a:off x="361950" y="1257300"/>
            <a:ext cx="11468100" cy="19050"/>
          </a:xfrm>
          <a:prstGeom prst="rect">
            <a:avLst/>
          </a:prstGeom>
          <a:solidFill>
            <a:srgbClr val="253F7E"/>
          </a:solidFill>
          <a:ln w="0">
            <a:solidFill>
              <a:srgbClr val="253F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5BFA1D-5272-805D-8C2E-55516BA2C3FA}"/>
              </a:ext>
            </a:extLst>
          </p:cNvPr>
          <p:cNvSpPr txBox="1"/>
          <p:nvPr/>
        </p:nvSpPr>
        <p:spPr>
          <a:xfrm>
            <a:off x="406400" y="1401233"/>
            <a:ext cx="952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60" b="1" dirty="0">
                <a:solidFill>
                  <a:srgbClr val="161E2D"/>
                </a:solidFill>
                <a:latin typeface="Aptos" panose="020B0004020202020204" pitchFamily="34" charset="0"/>
              </a:rPr>
              <a:t>To enhance execution visibility to stakeholders, reduce delivery spillovers, and ensure benefit realization is measurable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229D8BC-B325-7567-6849-1BEDC75549F1}"/>
              </a:ext>
            </a:extLst>
          </p:cNvPr>
          <p:cNvSpPr/>
          <p:nvPr/>
        </p:nvSpPr>
        <p:spPr>
          <a:xfrm>
            <a:off x="966653" y="2042887"/>
            <a:ext cx="2921000" cy="134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8729BEB5-FDB5-29FB-8992-50BB5F0C8697}"/>
              </a:ext>
            </a:extLst>
          </p:cNvPr>
          <p:cNvSpPr/>
          <p:nvPr/>
        </p:nvSpPr>
        <p:spPr>
          <a:xfrm>
            <a:off x="966653" y="2042887"/>
            <a:ext cx="2921000" cy="63500"/>
          </a:xfrm>
          <a:prstGeom prst="rect">
            <a:avLst/>
          </a:prstGeom>
          <a:solidFill>
            <a:srgbClr val="08008F"/>
          </a:solidFill>
          <a:ln w="0"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2C96F2F-69AA-ED93-5251-4CA30FCAC3C5}"/>
              </a:ext>
            </a:extLst>
          </p:cNvPr>
          <p:cNvSpPr/>
          <p:nvPr/>
        </p:nvSpPr>
        <p:spPr>
          <a:xfrm>
            <a:off x="4576351" y="2039112"/>
            <a:ext cx="2921000" cy="134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1D9781C-0E98-BF1B-97DB-C1201114B45C}"/>
              </a:ext>
            </a:extLst>
          </p:cNvPr>
          <p:cNvSpPr/>
          <p:nvPr/>
        </p:nvSpPr>
        <p:spPr>
          <a:xfrm>
            <a:off x="4576351" y="2039112"/>
            <a:ext cx="2921000" cy="63500"/>
          </a:xfrm>
          <a:prstGeom prst="rect">
            <a:avLst/>
          </a:prstGeom>
          <a:solidFill>
            <a:srgbClr val="08008F"/>
          </a:solidFill>
          <a:ln w="0"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07F4ED-5295-0C11-BE96-A10D72A01D78}"/>
              </a:ext>
            </a:extLst>
          </p:cNvPr>
          <p:cNvSpPr txBox="1"/>
          <p:nvPr/>
        </p:nvSpPr>
        <p:spPr>
          <a:xfrm>
            <a:off x="4728751" y="2236653"/>
            <a:ext cx="261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70" b="1">
                <a:solidFill>
                  <a:srgbClr val="08008F"/>
                </a:solidFill>
                <a:latin typeface="Aptos" panose="020B0004020202020204" pitchFamily="34" charset="0"/>
              </a:rPr>
              <a:t>Delivery Transparency - FY27 Actions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E4D8461-BCCE-011E-FCA0-917B4ADE1E4A}"/>
              </a:ext>
            </a:extLst>
          </p:cNvPr>
          <p:cNvSpPr txBox="1"/>
          <p:nvPr/>
        </p:nvSpPr>
        <p:spPr>
          <a:xfrm>
            <a:off x="4728751" y="2452538"/>
            <a:ext cx="2616200" cy="8163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Advance requirement intake (≈60 days)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to improve readiness before prioritization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Ensure complete requirement grooming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including dependency and feasibility validation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Create dashboards for end-to-end tracking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of PPB items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B19D9B5-E00B-C2F7-1C8A-39CC4058FEA2}"/>
              </a:ext>
            </a:extLst>
          </p:cNvPr>
          <p:cNvSpPr/>
          <p:nvPr/>
        </p:nvSpPr>
        <p:spPr>
          <a:xfrm>
            <a:off x="969264" y="3724365"/>
            <a:ext cx="2921000" cy="134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C115BF8-E8F9-5E73-C11F-923738825770}"/>
              </a:ext>
            </a:extLst>
          </p:cNvPr>
          <p:cNvSpPr/>
          <p:nvPr/>
        </p:nvSpPr>
        <p:spPr>
          <a:xfrm>
            <a:off x="968590" y="3724365"/>
            <a:ext cx="2921000" cy="63500"/>
          </a:xfrm>
          <a:prstGeom prst="rect">
            <a:avLst/>
          </a:prstGeom>
          <a:solidFill>
            <a:srgbClr val="08008F"/>
          </a:solidFill>
          <a:ln w="0"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7F44C8D-EE58-105A-F80C-8D7109EF6E1A}"/>
              </a:ext>
            </a:extLst>
          </p:cNvPr>
          <p:cNvSpPr txBox="1"/>
          <p:nvPr/>
        </p:nvSpPr>
        <p:spPr>
          <a:xfrm>
            <a:off x="1188723" y="3952965"/>
            <a:ext cx="261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70" b="1">
                <a:solidFill>
                  <a:srgbClr val="08008F"/>
                </a:solidFill>
                <a:latin typeface="Aptos" panose="020B0004020202020204" pitchFamily="34" charset="0"/>
              </a:rPr>
              <a:t>Execution Structuring Enhancements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663FB22-F869-7B94-D20F-B2E92D190795}"/>
              </a:ext>
            </a:extLst>
          </p:cNvPr>
          <p:cNvSpPr txBox="1"/>
          <p:nvPr/>
        </p:nvSpPr>
        <p:spPr>
          <a:xfrm>
            <a:off x="1104055" y="4168851"/>
            <a:ext cx="2616200" cy="84815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Validate dependencies upfront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to reduce execution-time risks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Track execution at feature-level granularity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for improved visibility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Monitor progress continuously across delivery stages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to enable early intervention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8EC3AB0-0F3F-CE30-943B-AF8CFEE672B9}"/>
              </a:ext>
            </a:extLst>
          </p:cNvPr>
          <p:cNvSpPr/>
          <p:nvPr/>
        </p:nvSpPr>
        <p:spPr>
          <a:xfrm>
            <a:off x="4628602" y="3721608"/>
            <a:ext cx="2921000" cy="134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D6BD34A-3CFC-3195-A004-117DB9721DE3}"/>
              </a:ext>
            </a:extLst>
          </p:cNvPr>
          <p:cNvSpPr/>
          <p:nvPr/>
        </p:nvSpPr>
        <p:spPr>
          <a:xfrm>
            <a:off x="4628602" y="3721608"/>
            <a:ext cx="2921000" cy="63500"/>
          </a:xfrm>
          <a:prstGeom prst="rect">
            <a:avLst/>
          </a:prstGeom>
          <a:solidFill>
            <a:srgbClr val="08008F"/>
          </a:solidFill>
          <a:ln w="0"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8FE569E8-A375-148A-68D4-F9229EF5ABF6}"/>
              </a:ext>
            </a:extLst>
          </p:cNvPr>
          <p:cNvSpPr/>
          <p:nvPr/>
        </p:nvSpPr>
        <p:spPr>
          <a:xfrm>
            <a:off x="3665026" y="2897628"/>
            <a:ext cx="1219200" cy="1219200"/>
          </a:xfrm>
          <a:prstGeom prst="ellipse">
            <a:avLst/>
          </a:prstGeom>
          <a:solidFill>
            <a:srgbClr val="FFFFFF"/>
          </a:solidFill>
          <a:ln w="57150">
            <a:solidFill>
              <a:srgbClr val="2B8E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C60DE48-7790-47B8-EFBD-0E06C46FA2B2}"/>
              </a:ext>
            </a:extLst>
          </p:cNvPr>
          <p:cNvSpPr txBox="1"/>
          <p:nvPr/>
        </p:nvSpPr>
        <p:spPr>
          <a:xfrm>
            <a:off x="4781002" y="3987800"/>
            <a:ext cx="261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70" b="1">
                <a:solidFill>
                  <a:srgbClr val="08008F"/>
                </a:solidFill>
                <a:latin typeface="Aptos" panose="020B0004020202020204" pitchFamily="34" charset="0"/>
              </a:rPr>
              <a:t>Outcome (Delivery Transparency)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7832411-79EA-F8AF-3613-4B1ED0F39B1D}"/>
              </a:ext>
            </a:extLst>
          </p:cNvPr>
          <p:cNvSpPr txBox="1"/>
          <p:nvPr/>
        </p:nvSpPr>
        <p:spPr>
          <a:xfrm>
            <a:off x="4781002" y="4254486"/>
            <a:ext cx="2616200" cy="71708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Improved visibility of execution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to stakeholders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Reduced spillovers and rework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across quarters (better delivery compliance)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Co</a:t>
            </a: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nsolidated view of progress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across web and mobile delivery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5110B8F-49D2-1C93-C9FE-1793CA0C04BF}"/>
              </a:ext>
            </a:extLst>
          </p:cNvPr>
          <p:cNvSpPr/>
          <p:nvPr/>
        </p:nvSpPr>
        <p:spPr>
          <a:xfrm>
            <a:off x="3817426" y="3050028"/>
            <a:ext cx="914400" cy="914400"/>
          </a:xfrm>
          <a:prstGeom prst="ellipse">
            <a:avLst/>
          </a:prstGeom>
          <a:solidFill>
            <a:srgbClr val="F2F7FD"/>
          </a:solidFill>
          <a:ln w="12700">
            <a:solidFill>
              <a:srgbClr val="B9DD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4D49836-98E0-5864-CAE3-1AADBBF7DBEA}"/>
              </a:ext>
            </a:extLst>
          </p:cNvPr>
          <p:cNvSpPr txBox="1"/>
          <p:nvPr/>
        </p:nvSpPr>
        <p:spPr>
          <a:xfrm>
            <a:off x="3880926" y="3240528"/>
            <a:ext cx="78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20" b="1" dirty="0">
                <a:solidFill>
                  <a:srgbClr val="08008F"/>
                </a:solidFill>
                <a:latin typeface="Aptos" panose="020B0004020202020204" pitchFamily="34" charset="0"/>
              </a:rPr>
              <a:t>PPB</a:t>
            </a:r>
          </a:p>
          <a:p>
            <a:pPr algn="ctr"/>
            <a:r>
              <a:rPr lang="en-US" sz="1220" b="1" dirty="0">
                <a:solidFill>
                  <a:srgbClr val="08008F"/>
                </a:solidFill>
                <a:latin typeface="Aptos" panose="020B0004020202020204" pitchFamily="34" charset="0"/>
              </a:rPr>
              <a:t>Evolution</a:t>
            </a:r>
          </a:p>
          <a:p>
            <a:pPr algn="ctr"/>
            <a:r>
              <a:rPr lang="en-US" sz="1220" b="1" dirty="0">
                <a:solidFill>
                  <a:srgbClr val="08008F"/>
                </a:solidFill>
                <a:latin typeface="Aptos" panose="020B0004020202020204" pitchFamily="34" charset="0"/>
              </a:rPr>
              <a:t>Focus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6E29E424-19C1-1287-8E44-E6F3153F5192}"/>
              </a:ext>
            </a:extLst>
          </p:cNvPr>
          <p:cNvSpPr/>
          <p:nvPr/>
        </p:nvSpPr>
        <p:spPr>
          <a:xfrm>
            <a:off x="7873577" y="1851799"/>
            <a:ext cx="3403600" cy="3314700"/>
          </a:xfrm>
          <a:prstGeom prst="rect">
            <a:avLst/>
          </a:prstGeom>
          <a:solidFill>
            <a:srgbClr val="FFFFFF"/>
          </a:solidFill>
          <a:ln w="1524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204A0CA-677C-7852-4E11-82D26FD39898}"/>
              </a:ext>
            </a:extLst>
          </p:cNvPr>
          <p:cNvSpPr/>
          <p:nvPr/>
        </p:nvSpPr>
        <p:spPr>
          <a:xfrm>
            <a:off x="7873577" y="1851799"/>
            <a:ext cx="3403600" cy="482600"/>
          </a:xfrm>
          <a:prstGeom prst="rect">
            <a:avLst/>
          </a:prstGeom>
          <a:solidFill>
            <a:srgbClr val="08008F"/>
          </a:solidFill>
          <a:ln w="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8DF194E-A007-B650-E960-ABEF72D2D432}"/>
              </a:ext>
            </a:extLst>
          </p:cNvPr>
          <p:cNvSpPr txBox="1"/>
          <p:nvPr/>
        </p:nvSpPr>
        <p:spPr>
          <a:xfrm>
            <a:off x="7937438" y="1977071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80" b="1" dirty="0">
                <a:solidFill>
                  <a:schemeClr val="bg1"/>
                </a:solidFill>
                <a:latin typeface="Aptos" panose="020B0004020202020204" pitchFamily="34" charset="0"/>
              </a:rPr>
              <a:t>Benefit Realization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3984ECF-DC8B-BCEA-D27E-F035A53D63D7}"/>
              </a:ext>
            </a:extLst>
          </p:cNvPr>
          <p:cNvSpPr txBox="1"/>
          <p:nvPr/>
        </p:nvSpPr>
        <p:spPr>
          <a:xfrm>
            <a:off x="8076777" y="2168747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30" b="1" dirty="0">
                <a:solidFill>
                  <a:srgbClr val="08008F"/>
                </a:solidFill>
                <a:latin typeface="Aptos" panose="020B0004020202020204" pitchFamily="34" charset="0"/>
              </a:rPr>
              <a:t>(Outcome Accountability)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C3B37CE6-EC9B-AF16-F9E2-75348572E177}"/>
              </a:ext>
            </a:extLst>
          </p:cNvPr>
          <p:cNvSpPr/>
          <p:nvPr/>
        </p:nvSpPr>
        <p:spPr>
          <a:xfrm>
            <a:off x="8076777" y="2761965"/>
            <a:ext cx="228600" cy="228600"/>
          </a:xfrm>
          <a:prstGeom prst="ellipse">
            <a:avLst/>
          </a:prstGeom>
          <a:solidFill>
            <a:srgbClr val="08008F"/>
          </a:solidFill>
          <a:ln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FFFC684-FC49-60DA-32FC-24F99C519032}"/>
              </a:ext>
            </a:extLst>
          </p:cNvPr>
          <p:cNvSpPr txBox="1"/>
          <p:nvPr/>
        </p:nvSpPr>
        <p:spPr>
          <a:xfrm>
            <a:off x="8132657" y="2789905"/>
            <a:ext cx="1143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50" b="1" dirty="0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A0A61F-6E7B-DAEC-45C2-1E965157BA6B}"/>
              </a:ext>
            </a:extLst>
          </p:cNvPr>
          <p:cNvSpPr txBox="1"/>
          <p:nvPr/>
        </p:nvSpPr>
        <p:spPr>
          <a:xfrm>
            <a:off x="8457777" y="2749265"/>
            <a:ext cx="233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Shift from high-level estimates to scenario-based, measurable KPIs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47C727F-BB45-5455-5214-CB08DDFBA365}"/>
              </a:ext>
            </a:extLst>
          </p:cNvPr>
          <p:cNvSpPr/>
          <p:nvPr/>
        </p:nvSpPr>
        <p:spPr>
          <a:xfrm>
            <a:off x="8457777" y="3147199"/>
            <a:ext cx="2311400" cy="8890"/>
          </a:xfrm>
          <a:prstGeom prst="rect">
            <a:avLst/>
          </a:prstGeom>
          <a:solidFill>
            <a:srgbClr val="E0E8F2"/>
          </a:solidFill>
          <a:ln w="0">
            <a:solidFill>
              <a:srgbClr val="E0E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36049897-B12F-BD97-B157-9F34C1C2BB69}"/>
              </a:ext>
            </a:extLst>
          </p:cNvPr>
          <p:cNvSpPr/>
          <p:nvPr/>
        </p:nvSpPr>
        <p:spPr>
          <a:xfrm>
            <a:off x="8076777" y="3334876"/>
            <a:ext cx="228600" cy="228600"/>
          </a:xfrm>
          <a:prstGeom prst="ellipse">
            <a:avLst/>
          </a:prstGeom>
          <a:solidFill>
            <a:srgbClr val="08008F"/>
          </a:solidFill>
          <a:ln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BEB5CF8-6180-81F1-A3E4-7E9EF6D2A1E8}"/>
              </a:ext>
            </a:extLst>
          </p:cNvPr>
          <p:cNvSpPr txBox="1"/>
          <p:nvPr/>
        </p:nvSpPr>
        <p:spPr>
          <a:xfrm>
            <a:off x="8132657" y="3378339"/>
            <a:ext cx="114300" cy="16551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3915B70-0BE1-7492-6BA2-BF821AD77F9B}"/>
              </a:ext>
            </a:extLst>
          </p:cNvPr>
          <p:cNvSpPr txBox="1"/>
          <p:nvPr/>
        </p:nvSpPr>
        <p:spPr>
          <a:xfrm>
            <a:off x="8457777" y="3337701"/>
            <a:ext cx="233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Anchor KPIs to primary metrics (bookings, transactions, revenue, etc.)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454D0CF9-5ABF-2BEF-B195-D992E06508C0}"/>
              </a:ext>
            </a:extLst>
          </p:cNvPr>
          <p:cNvSpPr/>
          <p:nvPr/>
        </p:nvSpPr>
        <p:spPr>
          <a:xfrm>
            <a:off x="8457777" y="3727166"/>
            <a:ext cx="2311400" cy="8890"/>
          </a:xfrm>
          <a:prstGeom prst="rect">
            <a:avLst/>
          </a:prstGeom>
          <a:solidFill>
            <a:srgbClr val="E0E8F2"/>
          </a:solidFill>
          <a:ln w="0">
            <a:solidFill>
              <a:srgbClr val="E0E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D486A443-2710-B2BE-79FD-7EC7F35E8BC9}"/>
              </a:ext>
            </a:extLst>
          </p:cNvPr>
          <p:cNvSpPr/>
          <p:nvPr/>
        </p:nvSpPr>
        <p:spPr>
          <a:xfrm>
            <a:off x="8076777" y="3907787"/>
            <a:ext cx="228600" cy="228600"/>
          </a:xfrm>
          <a:prstGeom prst="ellipse">
            <a:avLst/>
          </a:prstGeom>
          <a:solidFill>
            <a:srgbClr val="08008F"/>
          </a:solidFill>
          <a:ln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7FB81FB-30D6-297D-7C16-9FF45C45F865}"/>
              </a:ext>
            </a:extLst>
          </p:cNvPr>
          <p:cNvSpPr txBox="1"/>
          <p:nvPr/>
        </p:nvSpPr>
        <p:spPr>
          <a:xfrm>
            <a:off x="8132657" y="3954072"/>
            <a:ext cx="114300" cy="18231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49609CE-9E55-CB6F-5982-395E5BDBC7C1}"/>
              </a:ext>
            </a:extLst>
          </p:cNvPr>
          <p:cNvSpPr txBox="1"/>
          <p:nvPr/>
        </p:nvSpPr>
        <p:spPr>
          <a:xfrm>
            <a:off x="8457777" y="3913432"/>
            <a:ext cx="233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Define adoption upfront (baseline, threshold, and measurement timeline)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E05AE9E-B94E-74DB-9591-2839914F4EF4}"/>
              </a:ext>
            </a:extLst>
          </p:cNvPr>
          <p:cNvSpPr/>
          <p:nvPr/>
        </p:nvSpPr>
        <p:spPr>
          <a:xfrm>
            <a:off x="8457777" y="4324067"/>
            <a:ext cx="2311400" cy="8890"/>
          </a:xfrm>
          <a:prstGeom prst="rect">
            <a:avLst/>
          </a:prstGeom>
          <a:solidFill>
            <a:srgbClr val="E0E8F2"/>
          </a:solidFill>
          <a:ln w="0">
            <a:solidFill>
              <a:srgbClr val="E0E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0F1FFEA7-AF0A-D3BD-BEF2-A9EC631C824E}"/>
              </a:ext>
            </a:extLst>
          </p:cNvPr>
          <p:cNvSpPr/>
          <p:nvPr/>
        </p:nvSpPr>
        <p:spPr>
          <a:xfrm>
            <a:off x="8076777" y="4480699"/>
            <a:ext cx="228600" cy="228600"/>
          </a:xfrm>
          <a:prstGeom prst="ellipse">
            <a:avLst/>
          </a:prstGeom>
          <a:solidFill>
            <a:srgbClr val="08008F"/>
          </a:solidFill>
          <a:ln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DB477CC-EE02-3C75-24D1-D3B7910C0D31}"/>
              </a:ext>
            </a:extLst>
          </p:cNvPr>
          <p:cNvSpPr txBox="1"/>
          <p:nvPr/>
        </p:nvSpPr>
        <p:spPr>
          <a:xfrm>
            <a:off x="8132657" y="4525571"/>
            <a:ext cx="1143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F549B09-A237-B0AE-5B6E-9723F32744E6}"/>
              </a:ext>
            </a:extLst>
          </p:cNvPr>
          <p:cNvSpPr txBox="1"/>
          <p:nvPr/>
        </p:nvSpPr>
        <p:spPr>
          <a:xfrm>
            <a:off x="8457777" y="4467999"/>
            <a:ext cx="233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Structured post-go-live tracking of Expected vs Actual outcomes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9025783-5758-E3E1-4AAC-00110A6A4589}"/>
              </a:ext>
            </a:extLst>
          </p:cNvPr>
          <p:cNvSpPr/>
          <p:nvPr/>
        </p:nvSpPr>
        <p:spPr>
          <a:xfrm>
            <a:off x="317855" y="5336175"/>
            <a:ext cx="3978406" cy="352775"/>
          </a:xfrm>
          <a:prstGeom prst="rect">
            <a:avLst/>
          </a:prstGeom>
          <a:solidFill>
            <a:srgbClr val="F2F7FD"/>
          </a:solidFill>
          <a:ln w="10160">
            <a:solidFill>
              <a:srgbClr val="BFD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B6910C6-AE40-B20B-2FAF-6D5E6B2D4AA0}"/>
              </a:ext>
            </a:extLst>
          </p:cNvPr>
          <p:cNvSpPr txBox="1"/>
          <p:nvPr/>
        </p:nvSpPr>
        <p:spPr>
          <a:xfrm>
            <a:off x="378884" y="5353111"/>
            <a:ext cx="3634316" cy="24758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50" b="1" dirty="0">
                <a:solidFill>
                  <a:srgbClr val="08008F"/>
                </a:solidFill>
                <a:latin typeface="Aptos" panose="020B0004020202020204" pitchFamily="34" charset="0"/>
              </a:rPr>
              <a:t>Improve execution visibility and reduce delivery spillovers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AD9C0E04-6926-E3F4-C559-FC00A501E295}"/>
              </a:ext>
            </a:extLst>
          </p:cNvPr>
          <p:cNvSpPr txBox="1"/>
          <p:nvPr/>
        </p:nvSpPr>
        <p:spPr>
          <a:xfrm>
            <a:off x="609600" y="6553200"/>
            <a:ext cx="2476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80">
                <a:solidFill>
                  <a:srgbClr val="788291"/>
                </a:solidFill>
                <a:latin typeface="Aptos" panose="020B0004020202020204" pitchFamily="34" charset="0"/>
              </a:rPr>
              <a:t>Confidential - Internal Use Only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92391B5-8457-81FA-CE98-92FBC35BEFBF}"/>
              </a:ext>
            </a:extLst>
          </p:cNvPr>
          <p:cNvSpPr txBox="1"/>
          <p:nvPr/>
        </p:nvSpPr>
        <p:spPr>
          <a:xfrm>
            <a:off x="11239500" y="65151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750" b="1">
                <a:solidFill>
                  <a:srgbClr val="647082"/>
                </a:solidFill>
                <a:latin typeface="Aptos" panose="020B0004020202020204" pitchFamily="34" charset="0"/>
              </a:rPr>
              <a:t>01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497310" y="238760"/>
            <a:ext cx="264202" cy="571500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5D0A7E4A-5F64-4B10-B6C0-1166E7F7C50E}"/>
              </a:ext>
            </a:extLst>
          </p:cNvPr>
          <p:cNvSpPr/>
          <p:nvPr/>
        </p:nvSpPr>
        <p:spPr>
          <a:xfrm>
            <a:off x="305727" y="5835709"/>
            <a:ext cx="3990534" cy="293934"/>
          </a:xfrm>
          <a:prstGeom prst="rect">
            <a:avLst/>
          </a:prstGeom>
          <a:solidFill>
            <a:srgbClr val="F2F7FD"/>
          </a:solidFill>
          <a:ln w="10160">
            <a:solidFill>
              <a:srgbClr val="BFD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D5D07FE-278E-4077-97D7-5D9B5159E257}"/>
              </a:ext>
            </a:extLst>
          </p:cNvPr>
          <p:cNvSpPr txBox="1"/>
          <p:nvPr/>
        </p:nvSpPr>
        <p:spPr>
          <a:xfrm>
            <a:off x="352455" y="5844180"/>
            <a:ext cx="3805705" cy="29393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50" b="1" dirty="0">
                <a:solidFill>
                  <a:srgbClr val="08008F"/>
                </a:solidFill>
                <a:latin typeface="Aptos" panose="020B0004020202020204" pitchFamily="34" charset="0"/>
              </a:rPr>
              <a:t>Enable measurable and comparable benefit realization across items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6FE2D4C-DB0D-4468-B2AF-18AC78DDE166}"/>
              </a:ext>
            </a:extLst>
          </p:cNvPr>
          <p:cNvSpPr txBox="1"/>
          <p:nvPr/>
        </p:nvSpPr>
        <p:spPr>
          <a:xfrm>
            <a:off x="7932843" y="2368264"/>
            <a:ext cx="3292504" cy="26853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900" b="1" dirty="0">
                <a:latin typeface="Aptos" panose="020B0004020202020204" pitchFamily="34" charset="0"/>
              </a:rPr>
              <a:t>Standardize KPI definition, adoption, and measurement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5EDC86B-C9BF-44E1-9D8B-33D9058F337F}"/>
              </a:ext>
            </a:extLst>
          </p:cNvPr>
          <p:cNvSpPr/>
          <p:nvPr/>
        </p:nvSpPr>
        <p:spPr>
          <a:xfrm>
            <a:off x="4576351" y="5353111"/>
            <a:ext cx="3978406" cy="352775"/>
          </a:xfrm>
          <a:prstGeom prst="rect">
            <a:avLst/>
          </a:prstGeom>
          <a:solidFill>
            <a:srgbClr val="F2F7FD"/>
          </a:solidFill>
          <a:ln w="10160">
            <a:solidFill>
              <a:srgbClr val="BFD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C230F40-F98F-42AC-935F-32AE96458160}"/>
              </a:ext>
            </a:extLst>
          </p:cNvPr>
          <p:cNvSpPr txBox="1"/>
          <p:nvPr/>
        </p:nvSpPr>
        <p:spPr>
          <a:xfrm>
            <a:off x="4637380" y="5370047"/>
            <a:ext cx="3634316" cy="24758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50" b="1" dirty="0">
                <a:solidFill>
                  <a:srgbClr val="08008F"/>
                </a:solidFill>
                <a:latin typeface="Aptos" panose="020B0004020202020204" pitchFamily="34" charset="0"/>
              </a:rPr>
              <a:t>Extend PPB governance to B2B (Agent Portal) platform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078F82-7AB2-6596-9449-1521E0B2736F}"/>
              </a:ext>
            </a:extLst>
          </p:cNvPr>
          <p:cNvSpPr txBox="1"/>
          <p:nvPr/>
        </p:nvSpPr>
        <p:spPr>
          <a:xfrm>
            <a:off x="1119053" y="2271487"/>
            <a:ext cx="261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70" b="1" dirty="0">
                <a:solidFill>
                  <a:srgbClr val="08008F"/>
                </a:solidFill>
                <a:latin typeface="Aptos" panose="020B0004020202020204" pitchFamily="34" charset="0"/>
              </a:rPr>
              <a:t>Delivery Transparency - Key Learnings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5863310-2D81-E1E7-4136-76036EBEF2B7}"/>
              </a:ext>
            </a:extLst>
          </p:cNvPr>
          <p:cNvSpPr txBox="1"/>
          <p:nvPr/>
        </p:nvSpPr>
        <p:spPr>
          <a:xfrm>
            <a:off x="1076718" y="2478904"/>
            <a:ext cx="2616200" cy="8408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PPB  requirements with</a:t>
            </a: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 limited readiness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Risks and blockers surfaced during execution, resulting in </a:t>
            </a: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spillovers and rework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Benefit realization captured via </a:t>
            </a: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high-level estimates without consistent measurement</a:t>
            </a:r>
          </a:p>
        </p:txBody>
      </p:sp>
    </p:spTree>
    <p:extLst>
      <p:ext uri="{BB962C8B-B14F-4D97-AF65-F5344CB8AC3E}">
        <p14:creationId xmlns:p14="http://schemas.microsoft.com/office/powerpoint/2010/main" val="417053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Oval 79">
            <a:extLst>
              <a:ext uri="{FF2B5EF4-FFF2-40B4-BE49-F238E27FC236}">
                <a16:creationId xmlns:a16="http://schemas.microsoft.com/office/drawing/2014/main" id="{ABA53060-1234-6649-EE01-758207D406F0}"/>
              </a:ext>
            </a:extLst>
          </p:cNvPr>
          <p:cNvSpPr/>
          <p:nvPr/>
        </p:nvSpPr>
        <p:spPr>
          <a:xfrm>
            <a:off x="3563426" y="2796028"/>
            <a:ext cx="1422400" cy="1422400"/>
          </a:xfrm>
          <a:prstGeom prst="ellipse">
            <a:avLst/>
          </a:prstGeom>
          <a:solidFill>
            <a:srgbClr val="08008F"/>
          </a:solidFill>
          <a:ln w="254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1D443C-40C3-7669-1829-C5232FDD0AE6}"/>
              </a:ext>
            </a:extLst>
          </p:cNvPr>
          <p:cNvSpPr/>
          <p:nvPr/>
        </p:nvSpPr>
        <p:spPr>
          <a:xfrm>
            <a:off x="361950" y="323850"/>
            <a:ext cx="48260" cy="419100"/>
          </a:xfrm>
          <a:prstGeom prst="rect">
            <a:avLst/>
          </a:prstGeom>
          <a:solidFill>
            <a:srgbClr val="B9DDF6"/>
          </a:solidFill>
          <a:ln w="0">
            <a:solidFill>
              <a:srgbClr val="B9DD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AAFA5C-2856-C433-3B52-F813ABA13EEC}"/>
              </a:ext>
            </a:extLst>
          </p:cNvPr>
          <p:cNvSpPr txBox="1"/>
          <p:nvPr/>
        </p:nvSpPr>
        <p:spPr>
          <a:xfrm>
            <a:off x="609600" y="28575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 dirty="0" err="1">
                <a:solidFill>
                  <a:srgbClr val="1E3F87"/>
                </a:solidFill>
                <a:latin typeface="Aptos" panose="020B0004020202020204" pitchFamily="34" charset="0"/>
              </a:rPr>
              <a:t>WnM</a:t>
            </a:r>
            <a:r>
              <a:rPr lang="en-US" sz="850" b="1" dirty="0">
                <a:solidFill>
                  <a:srgbClr val="1E3F87"/>
                </a:solidFill>
                <a:latin typeface="Aptos" panose="020B0004020202020204" pitchFamily="34" charset="0"/>
              </a:rPr>
              <a:t> Analytics| FY27 FOCUS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469658-ED2C-7B11-D5FD-54FC70CB01C7}"/>
              </a:ext>
            </a:extLst>
          </p:cNvPr>
          <p:cNvSpPr txBox="1"/>
          <p:nvPr/>
        </p:nvSpPr>
        <p:spPr>
          <a:xfrm>
            <a:off x="609600" y="45720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300" b="1" dirty="0">
                <a:solidFill>
                  <a:srgbClr val="08008F"/>
                </a:solidFill>
                <a:latin typeface="Aptos" panose="020B0004020202020204" pitchFamily="34" charset="0"/>
              </a:rPr>
              <a:t>Analytics Capability Evolution – FY27 Focus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403998-DF5F-5A5B-ED6D-B19BF6D44F94}"/>
              </a:ext>
            </a:extLst>
          </p:cNvPr>
          <p:cNvSpPr txBox="1"/>
          <p:nvPr/>
        </p:nvSpPr>
        <p:spPr>
          <a:xfrm>
            <a:off x="609600" y="852593"/>
            <a:ext cx="838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80" b="1" dirty="0">
                <a:latin typeface="Aptos" panose="020B0004020202020204" pitchFamily="34" charset="0"/>
              </a:rPr>
              <a:t>Improve data efficiency, reduce complexity, and enable faster insight-driven decision-making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9304372-7FAC-F15E-4D99-47A42E147011}"/>
              </a:ext>
            </a:extLst>
          </p:cNvPr>
          <p:cNvSpPr/>
          <p:nvPr/>
        </p:nvSpPr>
        <p:spPr>
          <a:xfrm>
            <a:off x="361950" y="1257300"/>
            <a:ext cx="11468100" cy="19050"/>
          </a:xfrm>
          <a:prstGeom prst="rect">
            <a:avLst/>
          </a:prstGeom>
          <a:solidFill>
            <a:srgbClr val="253F7E"/>
          </a:solidFill>
          <a:ln w="0">
            <a:solidFill>
              <a:srgbClr val="253F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5BFA1D-5272-805D-8C2E-55516BA2C3FA}"/>
              </a:ext>
            </a:extLst>
          </p:cNvPr>
          <p:cNvSpPr txBox="1"/>
          <p:nvPr/>
        </p:nvSpPr>
        <p:spPr>
          <a:xfrm>
            <a:off x="406400" y="1401233"/>
            <a:ext cx="952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60" b="1" dirty="0">
                <a:solidFill>
                  <a:srgbClr val="161E2D"/>
                </a:solidFill>
                <a:latin typeface="Aptos" panose="020B0004020202020204" pitchFamily="34" charset="0"/>
              </a:rPr>
              <a:t>Improve data efficiency, simplify implementation, and enable faster, insight-driven decision-making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229D8BC-B325-7567-6849-1BEDC75549F1}"/>
              </a:ext>
            </a:extLst>
          </p:cNvPr>
          <p:cNvSpPr/>
          <p:nvPr/>
        </p:nvSpPr>
        <p:spPr>
          <a:xfrm>
            <a:off x="966653" y="2042887"/>
            <a:ext cx="2921000" cy="134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8729BEB5-FDB5-29FB-8992-50BB5F0C8697}"/>
              </a:ext>
            </a:extLst>
          </p:cNvPr>
          <p:cNvSpPr/>
          <p:nvPr/>
        </p:nvSpPr>
        <p:spPr>
          <a:xfrm>
            <a:off x="966653" y="2042887"/>
            <a:ext cx="2921000" cy="63500"/>
          </a:xfrm>
          <a:prstGeom prst="rect">
            <a:avLst/>
          </a:prstGeom>
          <a:solidFill>
            <a:srgbClr val="08008F"/>
          </a:solidFill>
          <a:ln w="0"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078F82-7AB2-6596-9449-1521E0B2736F}"/>
              </a:ext>
            </a:extLst>
          </p:cNvPr>
          <p:cNvSpPr txBox="1"/>
          <p:nvPr/>
        </p:nvSpPr>
        <p:spPr>
          <a:xfrm>
            <a:off x="1042852" y="2136018"/>
            <a:ext cx="261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70" b="1" dirty="0">
                <a:solidFill>
                  <a:srgbClr val="08008F"/>
                </a:solidFill>
                <a:latin typeface="Aptos" panose="020B0004020202020204" pitchFamily="34" charset="0"/>
              </a:rPr>
              <a:t>Areas of Improvement</a:t>
            </a:r>
            <a:endParaRPr lang="en-US" sz="1070" b="1" dirty="0">
              <a:solidFill>
                <a:srgbClr val="08008F"/>
              </a:solidFill>
              <a:highlight>
                <a:srgbClr val="FFFF00"/>
              </a:highlight>
              <a:latin typeface="Aptos" panose="020B00040202020202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5863310-2D81-E1E7-4136-76036EBEF2B7}"/>
              </a:ext>
            </a:extLst>
          </p:cNvPr>
          <p:cNvSpPr txBox="1"/>
          <p:nvPr/>
        </p:nvSpPr>
        <p:spPr>
          <a:xfrm>
            <a:off x="1017451" y="2292636"/>
            <a:ext cx="2616200" cy="108570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High dependency on </a:t>
            </a: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manual analysis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, impacting turnaround 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Complex and non-standardized tagging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affecting data collection and 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Significant data captured with </a:t>
            </a: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limited usage in reporting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Underutilized analytics features and fragmented tool usage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2C96F2F-69AA-ED93-5251-4CA30FCAC3C5}"/>
              </a:ext>
            </a:extLst>
          </p:cNvPr>
          <p:cNvSpPr/>
          <p:nvPr/>
        </p:nvSpPr>
        <p:spPr>
          <a:xfrm>
            <a:off x="4576351" y="2039112"/>
            <a:ext cx="2921000" cy="134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1D9781C-0E98-BF1B-97DB-C1201114B45C}"/>
              </a:ext>
            </a:extLst>
          </p:cNvPr>
          <p:cNvSpPr/>
          <p:nvPr/>
        </p:nvSpPr>
        <p:spPr>
          <a:xfrm>
            <a:off x="4576351" y="2039112"/>
            <a:ext cx="2921000" cy="63500"/>
          </a:xfrm>
          <a:prstGeom prst="rect">
            <a:avLst/>
          </a:prstGeom>
          <a:solidFill>
            <a:srgbClr val="08008F"/>
          </a:solidFill>
          <a:ln w="0"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07F4ED-5295-0C11-BE96-A10D72A01D78}"/>
              </a:ext>
            </a:extLst>
          </p:cNvPr>
          <p:cNvSpPr txBox="1"/>
          <p:nvPr/>
        </p:nvSpPr>
        <p:spPr>
          <a:xfrm>
            <a:off x="4677950" y="2136018"/>
            <a:ext cx="261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70" b="1" dirty="0">
                <a:solidFill>
                  <a:srgbClr val="08008F"/>
                </a:solidFill>
                <a:latin typeface="Aptos" panose="020B0004020202020204" pitchFamily="34" charset="0"/>
              </a:rPr>
              <a:t>FY27 Initiatives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E4D8461-BCCE-011E-FCA0-917B4ADE1E4A}"/>
              </a:ext>
            </a:extLst>
          </p:cNvPr>
          <p:cNvSpPr txBox="1"/>
          <p:nvPr/>
        </p:nvSpPr>
        <p:spPr>
          <a:xfrm>
            <a:off x="4796484" y="2274736"/>
            <a:ext cx="2616200" cy="110360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Leverage Analytics AI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for faster insights and pattern discovery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Optimize data collection efficiency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by reducing unnecessary server calls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Standardize tagging and variable design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to simplify implementation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Rationalize analytics tool stack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(Adobe, GA4, </a:t>
            </a:r>
            <a:r>
              <a:rPr lang="en-US" sz="900" dirty="0" err="1">
                <a:solidFill>
                  <a:srgbClr val="161E2D"/>
                </a:solidFill>
                <a:latin typeface="Aptos" panose="020B0004020202020204" pitchFamily="34" charset="0"/>
              </a:rPr>
              <a:t>Mixpanel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, CDP/BI)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B19D9B5-E00B-C2F7-1C8A-39CC4058FEA2}"/>
              </a:ext>
            </a:extLst>
          </p:cNvPr>
          <p:cNvSpPr/>
          <p:nvPr/>
        </p:nvSpPr>
        <p:spPr>
          <a:xfrm>
            <a:off x="969264" y="3724365"/>
            <a:ext cx="2921000" cy="134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C115BF8-E8F9-5E73-C11F-923738825770}"/>
              </a:ext>
            </a:extLst>
          </p:cNvPr>
          <p:cNvSpPr/>
          <p:nvPr/>
        </p:nvSpPr>
        <p:spPr>
          <a:xfrm>
            <a:off x="968590" y="3724365"/>
            <a:ext cx="2921000" cy="63500"/>
          </a:xfrm>
          <a:prstGeom prst="rect">
            <a:avLst/>
          </a:prstGeom>
          <a:solidFill>
            <a:srgbClr val="08008F"/>
          </a:solidFill>
          <a:ln w="0"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7F44C8D-EE58-105A-F80C-8D7109EF6E1A}"/>
              </a:ext>
            </a:extLst>
          </p:cNvPr>
          <p:cNvSpPr txBox="1"/>
          <p:nvPr/>
        </p:nvSpPr>
        <p:spPr>
          <a:xfrm>
            <a:off x="1027856" y="3817498"/>
            <a:ext cx="261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70" b="1">
                <a:solidFill>
                  <a:srgbClr val="08008F"/>
                </a:solidFill>
                <a:latin typeface="Aptos" panose="020B0004020202020204" pitchFamily="34" charset="0"/>
              </a:rPr>
              <a:t>Execution Structuring Enhancements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663FB22-F869-7B94-D20F-B2E92D190795}"/>
              </a:ext>
            </a:extLst>
          </p:cNvPr>
          <p:cNvSpPr txBox="1"/>
          <p:nvPr/>
        </p:nvSpPr>
        <p:spPr>
          <a:xfrm>
            <a:off x="1002452" y="4075717"/>
            <a:ext cx="2616200" cy="99209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Align data collection to reporting value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(usage vs value)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Simplify tagging architecture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to reduce complexity and rework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Improve feature adoption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across analytics tools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Evaluate hybrid tool setup 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(e.g., Adobe for Web, </a:t>
            </a:r>
            <a:r>
              <a:rPr lang="en-US" sz="900" dirty="0" err="1">
                <a:solidFill>
                  <a:srgbClr val="161E2D"/>
                </a:solidFill>
                <a:latin typeface="Aptos" panose="020B0004020202020204" pitchFamily="34" charset="0"/>
              </a:rPr>
              <a:t>Mixpanel</a:t>
            </a: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 for App)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8EC3AB0-0F3F-CE30-943B-AF8CFEE672B9}"/>
              </a:ext>
            </a:extLst>
          </p:cNvPr>
          <p:cNvSpPr/>
          <p:nvPr/>
        </p:nvSpPr>
        <p:spPr>
          <a:xfrm>
            <a:off x="4628602" y="3721608"/>
            <a:ext cx="2921000" cy="134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D6BD34A-3CFC-3195-A004-117DB9721DE3}"/>
              </a:ext>
            </a:extLst>
          </p:cNvPr>
          <p:cNvSpPr/>
          <p:nvPr/>
        </p:nvSpPr>
        <p:spPr>
          <a:xfrm>
            <a:off x="4628602" y="3721608"/>
            <a:ext cx="2921000" cy="63500"/>
          </a:xfrm>
          <a:prstGeom prst="rect">
            <a:avLst/>
          </a:prstGeom>
          <a:solidFill>
            <a:srgbClr val="08008F"/>
          </a:solidFill>
          <a:ln w="0"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C60DE48-7790-47B8-EFBD-0E06C46FA2B2}"/>
              </a:ext>
            </a:extLst>
          </p:cNvPr>
          <p:cNvSpPr txBox="1"/>
          <p:nvPr/>
        </p:nvSpPr>
        <p:spPr>
          <a:xfrm>
            <a:off x="4924937" y="3767666"/>
            <a:ext cx="261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70" b="1" dirty="0">
                <a:solidFill>
                  <a:srgbClr val="08008F"/>
                </a:solidFill>
                <a:latin typeface="Aptos" panose="020B0004020202020204" pitchFamily="34" charset="0"/>
              </a:rPr>
              <a:t>Outcome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7832411-79EA-F8AF-3613-4B1ED0F39B1D}"/>
              </a:ext>
            </a:extLst>
          </p:cNvPr>
          <p:cNvSpPr txBox="1"/>
          <p:nvPr/>
        </p:nvSpPr>
        <p:spPr>
          <a:xfrm>
            <a:off x="4781002" y="4025885"/>
            <a:ext cx="2616200" cy="71708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Faster decision-making with reduced analysis turnaround 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Improved accuracy and confidence in insights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Reduced data volume and implementation complexity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Better utilization of analytics platforms and capabilities</a:t>
            </a:r>
            <a:endParaRPr lang="en-US" sz="900" dirty="0">
              <a:solidFill>
                <a:srgbClr val="161E2D"/>
              </a:solidFill>
              <a:latin typeface="Aptos" panose="020B0004020202020204" pitchFamily="34" charset="0"/>
            </a:endParaRP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8FE569E8-A375-148A-68D4-F9229EF5ABF6}"/>
              </a:ext>
            </a:extLst>
          </p:cNvPr>
          <p:cNvSpPr/>
          <p:nvPr/>
        </p:nvSpPr>
        <p:spPr>
          <a:xfrm>
            <a:off x="3665026" y="2897628"/>
            <a:ext cx="1219200" cy="1219200"/>
          </a:xfrm>
          <a:prstGeom prst="ellipse">
            <a:avLst/>
          </a:prstGeom>
          <a:solidFill>
            <a:srgbClr val="FFFFFF"/>
          </a:solidFill>
          <a:ln w="57150">
            <a:solidFill>
              <a:srgbClr val="2B8E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5110B8F-49D2-1C93-C9FE-1793CA0C04BF}"/>
              </a:ext>
            </a:extLst>
          </p:cNvPr>
          <p:cNvSpPr/>
          <p:nvPr/>
        </p:nvSpPr>
        <p:spPr>
          <a:xfrm>
            <a:off x="3817426" y="3050028"/>
            <a:ext cx="914400" cy="914400"/>
          </a:xfrm>
          <a:prstGeom prst="ellipse">
            <a:avLst/>
          </a:prstGeom>
          <a:solidFill>
            <a:srgbClr val="F2F7FD"/>
          </a:solidFill>
          <a:ln w="12700">
            <a:solidFill>
              <a:srgbClr val="B9DD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4D49836-98E0-5864-CAE3-1AADBBF7DBEA}"/>
              </a:ext>
            </a:extLst>
          </p:cNvPr>
          <p:cNvSpPr txBox="1"/>
          <p:nvPr/>
        </p:nvSpPr>
        <p:spPr>
          <a:xfrm>
            <a:off x="3880926" y="3240528"/>
            <a:ext cx="787400" cy="57697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20" b="1" dirty="0">
                <a:solidFill>
                  <a:srgbClr val="08008F"/>
                </a:solidFill>
                <a:latin typeface="Aptos" panose="020B0004020202020204" pitchFamily="34" charset="0"/>
              </a:rPr>
              <a:t>Analytics</a:t>
            </a:r>
          </a:p>
          <a:p>
            <a:pPr algn="ctr"/>
            <a:r>
              <a:rPr lang="en-US" sz="1220" b="1" dirty="0">
                <a:solidFill>
                  <a:srgbClr val="08008F"/>
                </a:solidFill>
                <a:latin typeface="Aptos" panose="020B0004020202020204" pitchFamily="34" charset="0"/>
              </a:rPr>
              <a:t>Capability</a:t>
            </a:r>
          </a:p>
          <a:p>
            <a:pPr algn="ctr"/>
            <a:r>
              <a:rPr lang="en-US" sz="1220" b="1" dirty="0">
                <a:solidFill>
                  <a:srgbClr val="08008F"/>
                </a:solidFill>
                <a:latin typeface="Aptos" panose="020B0004020202020204" pitchFamily="34" charset="0"/>
              </a:rPr>
              <a:t>Focus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6E29E424-19C1-1287-8E44-E6F3153F5192}"/>
              </a:ext>
            </a:extLst>
          </p:cNvPr>
          <p:cNvSpPr/>
          <p:nvPr/>
        </p:nvSpPr>
        <p:spPr>
          <a:xfrm>
            <a:off x="7873577" y="1851799"/>
            <a:ext cx="3403600" cy="3314700"/>
          </a:xfrm>
          <a:prstGeom prst="rect">
            <a:avLst/>
          </a:prstGeom>
          <a:solidFill>
            <a:srgbClr val="FFFFFF"/>
          </a:solidFill>
          <a:ln w="1524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204A0CA-677C-7852-4E11-82D26FD39898}"/>
              </a:ext>
            </a:extLst>
          </p:cNvPr>
          <p:cNvSpPr/>
          <p:nvPr/>
        </p:nvSpPr>
        <p:spPr>
          <a:xfrm>
            <a:off x="7873577" y="1851799"/>
            <a:ext cx="3403600" cy="482600"/>
          </a:xfrm>
          <a:prstGeom prst="rect">
            <a:avLst/>
          </a:prstGeom>
          <a:solidFill>
            <a:srgbClr val="08008F"/>
          </a:solidFill>
          <a:ln w="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8DF194E-A007-B650-E960-ABEF72D2D432}"/>
              </a:ext>
            </a:extLst>
          </p:cNvPr>
          <p:cNvSpPr txBox="1"/>
          <p:nvPr/>
        </p:nvSpPr>
        <p:spPr>
          <a:xfrm>
            <a:off x="7937438" y="1977071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80" b="1" dirty="0">
                <a:solidFill>
                  <a:schemeClr val="bg1"/>
                </a:solidFill>
                <a:latin typeface="Aptos" panose="020B0004020202020204" pitchFamily="34" charset="0"/>
              </a:rPr>
              <a:t>Analytics Capability Focus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3984ECF-DC8B-BCEA-D27E-F035A53D63D7}"/>
              </a:ext>
            </a:extLst>
          </p:cNvPr>
          <p:cNvSpPr txBox="1"/>
          <p:nvPr/>
        </p:nvSpPr>
        <p:spPr>
          <a:xfrm>
            <a:off x="8076777" y="2168747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30" b="1" dirty="0">
                <a:solidFill>
                  <a:srgbClr val="08008F"/>
                </a:solidFill>
                <a:latin typeface="Aptos" panose="020B0004020202020204" pitchFamily="34" charset="0"/>
              </a:rPr>
              <a:t>(Outcome Accountability)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C3B37CE6-EC9B-AF16-F9E2-75348572E177}"/>
              </a:ext>
            </a:extLst>
          </p:cNvPr>
          <p:cNvSpPr/>
          <p:nvPr/>
        </p:nvSpPr>
        <p:spPr>
          <a:xfrm>
            <a:off x="8076777" y="2761965"/>
            <a:ext cx="228600" cy="228600"/>
          </a:xfrm>
          <a:prstGeom prst="ellipse">
            <a:avLst/>
          </a:prstGeom>
          <a:solidFill>
            <a:srgbClr val="08008F"/>
          </a:solidFill>
          <a:ln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FFFC684-FC49-60DA-32FC-24F99C519032}"/>
              </a:ext>
            </a:extLst>
          </p:cNvPr>
          <p:cNvSpPr txBox="1"/>
          <p:nvPr/>
        </p:nvSpPr>
        <p:spPr>
          <a:xfrm>
            <a:off x="8132657" y="2789905"/>
            <a:ext cx="1143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50" b="1" dirty="0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A0A61F-6E7B-DAEC-45C2-1E965157BA6B}"/>
              </a:ext>
            </a:extLst>
          </p:cNvPr>
          <p:cNvSpPr txBox="1"/>
          <p:nvPr/>
        </p:nvSpPr>
        <p:spPr>
          <a:xfrm>
            <a:off x="8457777" y="2749265"/>
            <a:ext cx="233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Enable AI-driven insights for faster decisions and hidden pattern discovery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47C727F-BB45-5455-5214-CB08DDFBA365}"/>
              </a:ext>
            </a:extLst>
          </p:cNvPr>
          <p:cNvSpPr/>
          <p:nvPr/>
        </p:nvSpPr>
        <p:spPr>
          <a:xfrm>
            <a:off x="8457777" y="3147199"/>
            <a:ext cx="2311400" cy="8890"/>
          </a:xfrm>
          <a:prstGeom prst="rect">
            <a:avLst/>
          </a:prstGeom>
          <a:solidFill>
            <a:srgbClr val="E0E8F2"/>
          </a:solidFill>
          <a:ln w="0">
            <a:solidFill>
              <a:srgbClr val="E0E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36049897-B12F-BD97-B157-9F34C1C2BB69}"/>
              </a:ext>
            </a:extLst>
          </p:cNvPr>
          <p:cNvSpPr/>
          <p:nvPr/>
        </p:nvSpPr>
        <p:spPr>
          <a:xfrm>
            <a:off x="8076777" y="3334876"/>
            <a:ext cx="228600" cy="228600"/>
          </a:xfrm>
          <a:prstGeom prst="ellipse">
            <a:avLst/>
          </a:prstGeom>
          <a:solidFill>
            <a:srgbClr val="08008F"/>
          </a:solidFill>
          <a:ln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BEB5CF8-6180-81F1-A3E4-7E9EF6D2A1E8}"/>
              </a:ext>
            </a:extLst>
          </p:cNvPr>
          <p:cNvSpPr txBox="1"/>
          <p:nvPr/>
        </p:nvSpPr>
        <p:spPr>
          <a:xfrm>
            <a:off x="8132657" y="3378339"/>
            <a:ext cx="114300" cy="16551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3915B70-0BE1-7492-6BA2-BF821AD77F9B}"/>
              </a:ext>
            </a:extLst>
          </p:cNvPr>
          <p:cNvSpPr txBox="1"/>
          <p:nvPr/>
        </p:nvSpPr>
        <p:spPr>
          <a:xfrm>
            <a:off x="8457777" y="3337701"/>
            <a:ext cx="233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Reduce analysis TAT through automation and improved accuracy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454D0CF9-5ABF-2BEF-B195-D992E06508C0}"/>
              </a:ext>
            </a:extLst>
          </p:cNvPr>
          <p:cNvSpPr/>
          <p:nvPr/>
        </p:nvSpPr>
        <p:spPr>
          <a:xfrm>
            <a:off x="8457777" y="3727166"/>
            <a:ext cx="2311400" cy="8890"/>
          </a:xfrm>
          <a:prstGeom prst="rect">
            <a:avLst/>
          </a:prstGeom>
          <a:solidFill>
            <a:srgbClr val="E0E8F2"/>
          </a:solidFill>
          <a:ln w="0">
            <a:solidFill>
              <a:srgbClr val="E0E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D486A443-2710-B2BE-79FD-7EC7F35E8BC9}"/>
              </a:ext>
            </a:extLst>
          </p:cNvPr>
          <p:cNvSpPr/>
          <p:nvPr/>
        </p:nvSpPr>
        <p:spPr>
          <a:xfrm>
            <a:off x="8076777" y="3907787"/>
            <a:ext cx="228600" cy="228600"/>
          </a:xfrm>
          <a:prstGeom prst="ellipse">
            <a:avLst/>
          </a:prstGeom>
          <a:solidFill>
            <a:srgbClr val="08008F"/>
          </a:solidFill>
          <a:ln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7FB81FB-30D6-297D-7C16-9FF45C45F865}"/>
              </a:ext>
            </a:extLst>
          </p:cNvPr>
          <p:cNvSpPr txBox="1"/>
          <p:nvPr/>
        </p:nvSpPr>
        <p:spPr>
          <a:xfrm>
            <a:off x="8132657" y="3954072"/>
            <a:ext cx="114300" cy="18231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49609CE-9E55-CB6F-5982-395E5BDBC7C1}"/>
              </a:ext>
            </a:extLst>
          </p:cNvPr>
          <p:cNvSpPr txBox="1"/>
          <p:nvPr/>
        </p:nvSpPr>
        <p:spPr>
          <a:xfrm>
            <a:off x="8457777" y="3913432"/>
            <a:ext cx="233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Focus data collection on high-value, usable metrics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E05AE9E-B94E-74DB-9591-2839914F4EF4}"/>
              </a:ext>
            </a:extLst>
          </p:cNvPr>
          <p:cNvSpPr/>
          <p:nvPr/>
        </p:nvSpPr>
        <p:spPr>
          <a:xfrm>
            <a:off x="8457777" y="4324067"/>
            <a:ext cx="2311400" cy="8890"/>
          </a:xfrm>
          <a:prstGeom prst="rect">
            <a:avLst/>
          </a:prstGeom>
          <a:solidFill>
            <a:srgbClr val="E0E8F2"/>
          </a:solidFill>
          <a:ln w="0">
            <a:solidFill>
              <a:srgbClr val="E0E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0F1FFEA7-AF0A-D3BD-BEF2-A9EC631C824E}"/>
              </a:ext>
            </a:extLst>
          </p:cNvPr>
          <p:cNvSpPr/>
          <p:nvPr/>
        </p:nvSpPr>
        <p:spPr>
          <a:xfrm>
            <a:off x="8076777" y="4480699"/>
            <a:ext cx="228600" cy="228600"/>
          </a:xfrm>
          <a:prstGeom prst="ellipse">
            <a:avLst/>
          </a:prstGeom>
          <a:solidFill>
            <a:srgbClr val="08008F"/>
          </a:solidFill>
          <a:ln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DB477CC-EE02-3C75-24D1-D3B7910C0D31}"/>
              </a:ext>
            </a:extLst>
          </p:cNvPr>
          <p:cNvSpPr txBox="1"/>
          <p:nvPr/>
        </p:nvSpPr>
        <p:spPr>
          <a:xfrm>
            <a:off x="8132657" y="4525571"/>
            <a:ext cx="1143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F549B09-A237-B0AE-5B6E-9723F32744E6}"/>
              </a:ext>
            </a:extLst>
          </p:cNvPr>
          <p:cNvSpPr txBox="1"/>
          <p:nvPr/>
        </p:nvSpPr>
        <p:spPr>
          <a:xfrm>
            <a:off x="8457777" y="4467999"/>
            <a:ext cx="233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Optimize analytics stack through rationalization and hybrid approach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9025783-5758-E3E1-4AAC-00110A6A4589}"/>
              </a:ext>
            </a:extLst>
          </p:cNvPr>
          <p:cNvSpPr/>
          <p:nvPr/>
        </p:nvSpPr>
        <p:spPr>
          <a:xfrm>
            <a:off x="317855" y="5336175"/>
            <a:ext cx="3978406" cy="352775"/>
          </a:xfrm>
          <a:prstGeom prst="rect">
            <a:avLst/>
          </a:prstGeom>
          <a:solidFill>
            <a:srgbClr val="F2F7FD"/>
          </a:solidFill>
          <a:ln w="10160">
            <a:solidFill>
              <a:srgbClr val="BFD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B6910C6-AE40-B20B-2FAF-6D5E6B2D4AA0}"/>
              </a:ext>
            </a:extLst>
          </p:cNvPr>
          <p:cNvSpPr txBox="1"/>
          <p:nvPr/>
        </p:nvSpPr>
        <p:spPr>
          <a:xfrm>
            <a:off x="378884" y="5353111"/>
            <a:ext cx="3634316" cy="24758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50" b="1" dirty="0">
                <a:solidFill>
                  <a:srgbClr val="08008F"/>
                </a:solidFill>
                <a:latin typeface="Aptos" panose="020B0004020202020204" pitchFamily="34" charset="0"/>
              </a:rPr>
              <a:t>Improves data efficiency and reduces implementation complexity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AD9C0E04-6926-E3F4-C559-FC00A501E295}"/>
              </a:ext>
            </a:extLst>
          </p:cNvPr>
          <p:cNvSpPr txBox="1"/>
          <p:nvPr/>
        </p:nvSpPr>
        <p:spPr>
          <a:xfrm>
            <a:off x="609600" y="6553200"/>
            <a:ext cx="2476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80">
                <a:solidFill>
                  <a:srgbClr val="788291"/>
                </a:solidFill>
                <a:latin typeface="Aptos" panose="020B0004020202020204" pitchFamily="34" charset="0"/>
              </a:rPr>
              <a:t>Confidential - Internal Use Only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92391B5-8457-81FA-CE98-92FBC35BEFBF}"/>
              </a:ext>
            </a:extLst>
          </p:cNvPr>
          <p:cNvSpPr txBox="1"/>
          <p:nvPr/>
        </p:nvSpPr>
        <p:spPr>
          <a:xfrm>
            <a:off x="11239500" y="65151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750" b="1">
                <a:solidFill>
                  <a:srgbClr val="647082"/>
                </a:solidFill>
                <a:latin typeface="Aptos" panose="020B0004020202020204" pitchFamily="34" charset="0"/>
              </a:rPr>
              <a:t>01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497310" y="238760"/>
            <a:ext cx="264202" cy="571500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5D0A7E4A-5F64-4B10-B6C0-1166E7F7C50E}"/>
              </a:ext>
            </a:extLst>
          </p:cNvPr>
          <p:cNvSpPr/>
          <p:nvPr/>
        </p:nvSpPr>
        <p:spPr>
          <a:xfrm>
            <a:off x="305727" y="5835709"/>
            <a:ext cx="3990534" cy="293934"/>
          </a:xfrm>
          <a:prstGeom prst="rect">
            <a:avLst/>
          </a:prstGeom>
          <a:solidFill>
            <a:srgbClr val="F2F7FD"/>
          </a:solidFill>
          <a:ln w="10160">
            <a:solidFill>
              <a:srgbClr val="BFD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D5D07FE-278E-4077-97D7-5D9B5159E257}"/>
              </a:ext>
            </a:extLst>
          </p:cNvPr>
          <p:cNvSpPr txBox="1"/>
          <p:nvPr/>
        </p:nvSpPr>
        <p:spPr>
          <a:xfrm>
            <a:off x="352455" y="5844180"/>
            <a:ext cx="3805705" cy="29393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50" b="1" dirty="0">
                <a:solidFill>
                  <a:srgbClr val="08008F"/>
                </a:solidFill>
                <a:latin typeface="Aptos" panose="020B0004020202020204" pitchFamily="34" charset="0"/>
              </a:rPr>
              <a:t>Enables faster, more accurate, and insight-driven decision-making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6FE2D4C-DB0D-4468-B2AF-18AC78DDE166}"/>
              </a:ext>
            </a:extLst>
          </p:cNvPr>
          <p:cNvSpPr txBox="1"/>
          <p:nvPr/>
        </p:nvSpPr>
        <p:spPr>
          <a:xfrm>
            <a:off x="7932843" y="2368264"/>
            <a:ext cx="3292504" cy="26853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900" b="1" dirty="0">
                <a:latin typeface="Aptos" panose="020B0004020202020204" pitchFamily="34" charset="0"/>
              </a:rPr>
              <a:t>Enhances insights, efficiency, and platform effectiveness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5EDC86B-C9BF-44E1-9D8B-33D9058F337F}"/>
              </a:ext>
            </a:extLst>
          </p:cNvPr>
          <p:cNvSpPr/>
          <p:nvPr/>
        </p:nvSpPr>
        <p:spPr>
          <a:xfrm>
            <a:off x="4576351" y="5353111"/>
            <a:ext cx="3978406" cy="352775"/>
          </a:xfrm>
          <a:prstGeom prst="rect">
            <a:avLst/>
          </a:prstGeom>
          <a:solidFill>
            <a:srgbClr val="F2F7FD"/>
          </a:solidFill>
          <a:ln w="10160">
            <a:solidFill>
              <a:srgbClr val="BFD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C230F40-F98F-42AC-935F-32AE96458160}"/>
              </a:ext>
            </a:extLst>
          </p:cNvPr>
          <p:cNvSpPr txBox="1"/>
          <p:nvPr/>
        </p:nvSpPr>
        <p:spPr>
          <a:xfrm>
            <a:off x="4637380" y="5370047"/>
            <a:ext cx="3634316" cy="24758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50" b="1" dirty="0">
                <a:solidFill>
                  <a:srgbClr val="08008F"/>
                </a:solidFill>
                <a:latin typeface="Aptos" panose="020B0004020202020204" pitchFamily="34" charset="0"/>
              </a:rPr>
              <a:t>Leverages AI to accelerate insights and uncover hidden patterns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66E1573-DD86-418A-BBD2-DA0275D3231D}"/>
              </a:ext>
            </a:extLst>
          </p:cNvPr>
          <p:cNvSpPr/>
          <p:nvPr/>
        </p:nvSpPr>
        <p:spPr>
          <a:xfrm>
            <a:off x="4534018" y="5818779"/>
            <a:ext cx="3978406" cy="352775"/>
          </a:xfrm>
          <a:prstGeom prst="rect">
            <a:avLst/>
          </a:prstGeom>
          <a:solidFill>
            <a:srgbClr val="F2F7FD"/>
          </a:solidFill>
          <a:ln w="10160">
            <a:solidFill>
              <a:srgbClr val="BFD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D9D7F2C-EF49-4F8C-BF39-9E66B17939C4}"/>
              </a:ext>
            </a:extLst>
          </p:cNvPr>
          <p:cNvSpPr txBox="1"/>
          <p:nvPr/>
        </p:nvSpPr>
        <p:spPr>
          <a:xfrm>
            <a:off x="4595047" y="5835715"/>
            <a:ext cx="3634316" cy="24758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50" b="1" dirty="0">
                <a:solidFill>
                  <a:srgbClr val="08008F"/>
                </a:solidFill>
                <a:latin typeface="Aptos" panose="020B0004020202020204" pitchFamily="34" charset="0"/>
              </a:rPr>
              <a:t>Optimizes analytics stack for better utilization and scalability</a:t>
            </a:r>
          </a:p>
        </p:txBody>
      </p:sp>
    </p:spTree>
    <p:extLst>
      <p:ext uri="{BB962C8B-B14F-4D97-AF65-F5344CB8AC3E}">
        <p14:creationId xmlns:p14="http://schemas.microsoft.com/office/powerpoint/2010/main" val="3589029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Oval 79">
            <a:extLst>
              <a:ext uri="{FF2B5EF4-FFF2-40B4-BE49-F238E27FC236}">
                <a16:creationId xmlns:a16="http://schemas.microsoft.com/office/drawing/2014/main" id="{ABA53060-1234-6649-EE01-758207D406F0}"/>
              </a:ext>
            </a:extLst>
          </p:cNvPr>
          <p:cNvSpPr/>
          <p:nvPr/>
        </p:nvSpPr>
        <p:spPr>
          <a:xfrm>
            <a:off x="3563426" y="2796028"/>
            <a:ext cx="1422400" cy="1422400"/>
          </a:xfrm>
          <a:prstGeom prst="ellipse">
            <a:avLst/>
          </a:prstGeom>
          <a:solidFill>
            <a:srgbClr val="08008F"/>
          </a:solidFill>
          <a:ln w="254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1D443C-40C3-7669-1829-C5232FDD0AE6}"/>
              </a:ext>
            </a:extLst>
          </p:cNvPr>
          <p:cNvSpPr/>
          <p:nvPr/>
        </p:nvSpPr>
        <p:spPr>
          <a:xfrm>
            <a:off x="361950" y="323850"/>
            <a:ext cx="48260" cy="419100"/>
          </a:xfrm>
          <a:prstGeom prst="rect">
            <a:avLst/>
          </a:prstGeom>
          <a:solidFill>
            <a:srgbClr val="B9DDF6"/>
          </a:solidFill>
          <a:ln w="0">
            <a:solidFill>
              <a:srgbClr val="B9DD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AAFA5C-2856-C433-3B52-F813ABA13EEC}"/>
              </a:ext>
            </a:extLst>
          </p:cNvPr>
          <p:cNvSpPr txBox="1"/>
          <p:nvPr/>
        </p:nvSpPr>
        <p:spPr>
          <a:xfrm>
            <a:off x="609600" y="28575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 dirty="0" err="1">
                <a:solidFill>
                  <a:srgbClr val="1E3F87"/>
                </a:solidFill>
                <a:latin typeface="Aptos" panose="020B0004020202020204" pitchFamily="34" charset="0"/>
              </a:rPr>
              <a:t>WnM</a:t>
            </a:r>
            <a:r>
              <a:rPr lang="en-US" sz="850" b="1" dirty="0">
                <a:solidFill>
                  <a:srgbClr val="1E3F87"/>
                </a:solidFill>
                <a:latin typeface="Aptos" panose="020B0004020202020204" pitchFamily="34" charset="0"/>
              </a:rPr>
              <a:t> Governance| FY27 FOCUS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469658-ED2C-7B11-D5FD-54FC70CB01C7}"/>
              </a:ext>
            </a:extLst>
          </p:cNvPr>
          <p:cNvSpPr txBox="1"/>
          <p:nvPr/>
        </p:nvSpPr>
        <p:spPr>
          <a:xfrm>
            <a:off x="609600" y="45720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300" b="1" dirty="0">
                <a:solidFill>
                  <a:srgbClr val="08008F"/>
                </a:solidFill>
                <a:latin typeface="Aptos" panose="020B0004020202020204" pitchFamily="34" charset="0"/>
              </a:rPr>
              <a:t>RFP Capability Evolution – FY27 Focus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403998-DF5F-5A5B-ED6D-B19BF6D44F94}"/>
              </a:ext>
            </a:extLst>
          </p:cNvPr>
          <p:cNvSpPr txBox="1"/>
          <p:nvPr/>
        </p:nvSpPr>
        <p:spPr>
          <a:xfrm>
            <a:off x="609600" y="852593"/>
            <a:ext cx="838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80" b="1" dirty="0">
                <a:latin typeface="Aptos" panose="020B0004020202020204" pitchFamily="34" charset="0"/>
              </a:rPr>
              <a:t>Centralize governance and structure vendor evaluation across Digital RFPs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9304372-7FAC-F15E-4D99-47A42E147011}"/>
              </a:ext>
            </a:extLst>
          </p:cNvPr>
          <p:cNvSpPr/>
          <p:nvPr/>
        </p:nvSpPr>
        <p:spPr>
          <a:xfrm>
            <a:off x="361950" y="1257300"/>
            <a:ext cx="11468100" cy="19050"/>
          </a:xfrm>
          <a:prstGeom prst="rect">
            <a:avLst/>
          </a:prstGeom>
          <a:solidFill>
            <a:srgbClr val="253F7E"/>
          </a:solidFill>
          <a:ln w="0">
            <a:solidFill>
              <a:srgbClr val="253F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5BFA1D-5272-805D-8C2E-55516BA2C3FA}"/>
              </a:ext>
            </a:extLst>
          </p:cNvPr>
          <p:cNvSpPr txBox="1"/>
          <p:nvPr/>
        </p:nvSpPr>
        <p:spPr>
          <a:xfrm>
            <a:off x="406400" y="1401233"/>
            <a:ext cx="952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60" b="1" dirty="0">
                <a:solidFill>
                  <a:srgbClr val="161E2D"/>
                </a:solidFill>
                <a:latin typeface="Aptos" panose="020B0004020202020204" pitchFamily="34" charset="0"/>
              </a:rPr>
              <a:t>Strengthen RFP governance, improve vendor selection, and enable scalable partner onboarding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229D8BC-B325-7567-6849-1BEDC75549F1}"/>
              </a:ext>
            </a:extLst>
          </p:cNvPr>
          <p:cNvSpPr/>
          <p:nvPr/>
        </p:nvSpPr>
        <p:spPr>
          <a:xfrm>
            <a:off x="966653" y="2042887"/>
            <a:ext cx="2921000" cy="134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8729BEB5-FDB5-29FB-8992-50BB5F0C8697}"/>
              </a:ext>
            </a:extLst>
          </p:cNvPr>
          <p:cNvSpPr/>
          <p:nvPr/>
        </p:nvSpPr>
        <p:spPr>
          <a:xfrm>
            <a:off x="966653" y="2042887"/>
            <a:ext cx="2921000" cy="63500"/>
          </a:xfrm>
          <a:prstGeom prst="rect">
            <a:avLst/>
          </a:prstGeom>
          <a:solidFill>
            <a:srgbClr val="08008F"/>
          </a:solidFill>
          <a:ln w="0"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078F82-7AB2-6596-9449-1521E0B2736F}"/>
              </a:ext>
            </a:extLst>
          </p:cNvPr>
          <p:cNvSpPr txBox="1"/>
          <p:nvPr/>
        </p:nvSpPr>
        <p:spPr>
          <a:xfrm>
            <a:off x="1042852" y="2136018"/>
            <a:ext cx="261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70" b="1" dirty="0">
                <a:solidFill>
                  <a:srgbClr val="08008F"/>
                </a:solidFill>
                <a:latin typeface="Aptos" panose="020B0004020202020204" pitchFamily="34" charset="0"/>
              </a:rPr>
              <a:t>Key Focus Areas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5863310-2D81-E1E7-4136-76036EBEF2B7}"/>
              </a:ext>
            </a:extLst>
          </p:cNvPr>
          <p:cNvSpPr txBox="1"/>
          <p:nvPr/>
        </p:nvSpPr>
        <p:spPr>
          <a:xfrm>
            <a:off x="1017451" y="2292636"/>
            <a:ext cx="2616200" cy="108570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Centralize governance to improve RFP quality and consistency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Reduce delays, rework, and compliance gaps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Strengthen cross-functional coordination across stakeholders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Enhance vendor selection and enables scalable delivery</a:t>
            </a:r>
            <a:endParaRPr lang="en-US" sz="900" b="1" dirty="0">
              <a:solidFill>
                <a:srgbClr val="161E2D"/>
              </a:solidFill>
              <a:latin typeface="Aptos" panose="020B00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2C96F2F-69AA-ED93-5251-4CA30FCAC3C5}"/>
              </a:ext>
            </a:extLst>
          </p:cNvPr>
          <p:cNvSpPr/>
          <p:nvPr/>
        </p:nvSpPr>
        <p:spPr>
          <a:xfrm>
            <a:off x="4576351" y="2039112"/>
            <a:ext cx="2921000" cy="134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1D9781C-0E98-BF1B-97DB-C1201114B45C}"/>
              </a:ext>
            </a:extLst>
          </p:cNvPr>
          <p:cNvSpPr/>
          <p:nvPr/>
        </p:nvSpPr>
        <p:spPr>
          <a:xfrm>
            <a:off x="4576351" y="2039112"/>
            <a:ext cx="2921000" cy="63500"/>
          </a:xfrm>
          <a:prstGeom prst="rect">
            <a:avLst/>
          </a:prstGeom>
          <a:solidFill>
            <a:srgbClr val="08008F"/>
          </a:solidFill>
          <a:ln w="0"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07F4ED-5295-0C11-BE96-A10D72A01D78}"/>
              </a:ext>
            </a:extLst>
          </p:cNvPr>
          <p:cNvSpPr txBox="1"/>
          <p:nvPr/>
        </p:nvSpPr>
        <p:spPr>
          <a:xfrm>
            <a:off x="4677950" y="2135051"/>
            <a:ext cx="261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70" b="1" dirty="0">
                <a:solidFill>
                  <a:srgbClr val="08008F"/>
                </a:solidFill>
                <a:latin typeface="Aptos" panose="020B0004020202020204" pitchFamily="34" charset="0"/>
              </a:rPr>
              <a:t>FY27 Initiatives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E4D8461-BCCE-011E-FCA0-917B4ADE1E4A}"/>
              </a:ext>
            </a:extLst>
          </p:cNvPr>
          <p:cNvSpPr txBox="1"/>
          <p:nvPr/>
        </p:nvSpPr>
        <p:spPr>
          <a:xfrm>
            <a:off x="4796484" y="2291670"/>
            <a:ext cx="2616200" cy="110360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Digital RFP Governance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Structured quality reviews, governance checkpoints, and evaluation frameworks before RFP float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161E2D"/>
              </a:solidFill>
              <a:latin typeface="Aptos" panose="020B0004020202020204" pitchFamily="34" charset="0"/>
            </a:endParaRPr>
          </a:p>
          <a:p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Cross Functional Alignment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Governance coordination across Business, Procurement, Legal, InfoSec, Architecture, and Delivery teams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B19D9B5-E00B-C2F7-1C8A-39CC4058FEA2}"/>
              </a:ext>
            </a:extLst>
          </p:cNvPr>
          <p:cNvSpPr/>
          <p:nvPr/>
        </p:nvSpPr>
        <p:spPr>
          <a:xfrm>
            <a:off x="969264" y="3724365"/>
            <a:ext cx="2921000" cy="134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C115BF8-E8F9-5E73-C11F-923738825770}"/>
              </a:ext>
            </a:extLst>
          </p:cNvPr>
          <p:cNvSpPr/>
          <p:nvPr/>
        </p:nvSpPr>
        <p:spPr>
          <a:xfrm>
            <a:off x="968590" y="3724365"/>
            <a:ext cx="2921000" cy="63500"/>
          </a:xfrm>
          <a:prstGeom prst="rect">
            <a:avLst/>
          </a:prstGeom>
          <a:solidFill>
            <a:srgbClr val="08008F"/>
          </a:solidFill>
          <a:ln w="0"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7F44C8D-EE58-105A-F80C-8D7109EF6E1A}"/>
              </a:ext>
            </a:extLst>
          </p:cNvPr>
          <p:cNvSpPr txBox="1"/>
          <p:nvPr/>
        </p:nvSpPr>
        <p:spPr>
          <a:xfrm>
            <a:off x="1027856" y="3817498"/>
            <a:ext cx="261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70" b="1">
                <a:solidFill>
                  <a:srgbClr val="08008F"/>
                </a:solidFill>
                <a:latin typeface="Aptos" panose="020B0004020202020204" pitchFamily="34" charset="0"/>
              </a:rPr>
              <a:t>Execution Structuring Enhancements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663FB22-F869-7B94-D20F-B2E92D190795}"/>
              </a:ext>
            </a:extLst>
          </p:cNvPr>
          <p:cNvSpPr txBox="1"/>
          <p:nvPr/>
        </p:nvSpPr>
        <p:spPr>
          <a:xfrm>
            <a:off x="1002452" y="4075717"/>
            <a:ext cx="2616200" cy="99209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Vendor Evaluation Enablement</a:t>
            </a:r>
          </a:p>
          <a:p>
            <a:endParaRPr lang="en-US" sz="900" b="1" dirty="0">
              <a:solidFill>
                <a:srgbClr val="161E2D"/>
              </a:solidFill>
              <a:latin typeface="Aptos" panose="020B00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Manage vendor demos, clarification workshops, technical reviews, and bid-defense discussions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8EC3AB0-0F3F-CE30-943B-AF8CFEE672B9}"/>
              </a:ext>
            </a:extLst>
          </p:cNvPr>
          <p:cNvSpPr/>
          <p:nvPr/>
        </p:nvSpPr>
        <p:spPr>
          <a:xfrm>
            <a:off x="4628602" y="3721608"/>
            <a:ext cx="2921000" cy="134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D6BD34A-3CFC-3195-A004-117DB9721DE3}"/>
              </a:ext>
            </a:extLst>
          </p:cNvPr>
          <p:cNvSpPr/>
          <p:nvPr/>
        </p:nvSpPr>
        <p:spPr>
          <a:xfrm>
            <a:off x="4628602" y="3721608"/>
            <a:ext cx="2921000" cy="63500"/>
          </a:xfrm>
          <a:prstGeom prst="rect">
            <a:avLst/>
          </a:prstGeom>
          <a:solidFill>
            <a:srgbClr val="08008F"/>
          </a:solidFill>
          <a:ln w="0"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C60DE48-7790-47B8-EFBD-0E06C46FA2B2}"/>
              </a:ext>
            </a:extLst>
          </p:cNvPr>
          <p:cNvSpPr txBox="1"/>
          <p:nvPr/>
        </p:nvSpPr>
        <p:spPr>
          <a:xfrm>
            <a:off x="4924937" y="3767666"/>
            <a:ext cx="261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70" b="1" dirty="0">
                <a:solidFill>
                  <a:srgbClr val="08008F"/>
                </a:solidFill>
                <a:latin typeface="Aptos" panose="020B0004020202020204" pitchFamily="34" charset="0"/>
              </a:rPr>
              <a:t>Outcome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8FE569E8-A375-148A-68D4-F9229EF5ABF6}"/>
              </a:ext>
            </a:extLst>
          </p:cNvPr>
          <p:cNvSpPr/>
          <p:nvPr/>
        </p:nvSpPr>
        <p:spPr>
          <a:xfrm>
            <a:off x="3665026" y="2897628"/>
            <a:ext cx="1219200" cy="1219200"/>
          </a:xfrm>
          <a:prstGeom prst="ellipse">
            <a:avLst/>
          </a:prstGeom>
          <a:solidFill>
            <a:srgbClr val="FFFFFF"/>
          </a:solidFill>
          <a:ln w="57150">
            <a:solidFill>
              <a:srgbClr val="2B8E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7832411-79EA-F8AF-3613-4B1ED0F39B1D}"/>
              </a:ext>
            </a:extLst>
          </p:cNvPr>
          <p:cNvSpPr txBox="1"/>
          <p:nvPr/>
        </p:nvSpPr>
        <p:spPr>
          <a:xfrm>
            <a:off x="4781002" y="4025885"/>
            <a:ext cx="2616200" cy="71708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b="1" dirty="0">
                <a:solidFill>
                  <a:srgbClr val="161E2D"/>
                </a:solidFill>
                <a:latin typeface="Aptos" panose="020B0004020202020204" pitchFamily="34" charset="0"/>
              </a:rPr>
              <a:t>FY 2026–27 Focus Areas</a:t>
            </a:r>
          </a:p>
          <a:p>
            <a:endParaRPr lang="en-US" sz="900" b="1" dirty="0">
              <a:solidFill>
                <a:srgbClr val="161E2D"/>
              </a:solidFill>
              <a:latin typeface="Aptos" panose="020B00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Centralize vendor intelligence, faster RFP turnaround, and scalable governance models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5110B8F-49D2-1C93-C9FE-1793CA0C04BF}"/>
              </a:ext>
            </a:extLst>
          </p:cNvPr>
          <p:cNvSpPr/>
          <p:nvPr/>
        </p:nvSpPr>
        <p:spPr>
          <a:xfrm>
            <a:off x="3817426" y="3050028"/>
            <a:ext cx="914400" cy="914400"/>
          </a:xfrm>
          <a:prstGeom prst="ellipse">
            <a:avLst/>
          </a:prstGeom>
          <a:solidFill>
            <a:srgbClr val="F2F7FD"/>
          </a:solidFill>
          <a:ln w="12700">
            <a:solidFill>
              <a:srgbClr val="B9DD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4D49836-98E0-5864-CAE3-1AADBBF7DBEA}"/>
              </a:ext>
            </a:extLst>
          </p:cNvPr>
          <p:cNvSpPr txBox="1"/>
          <p:nvPr/>
        </p:nvSpPr>
        <p:spPr>
          <a:xfrm>
            <a:off x="3880926" y="3240528"/>
            <a:ext cx="787400" cy="57697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20" b="1" dirty="0">
                <a:solidFill>
                  <a:srgbClr val="08008F"/>
                </a:solidFill>
                <a:latin typeface="Aptos" panose="020B0004020202020204" pitchFamily="34" charset="0"/>
              </a:rPr>
              <a:t>RFP</a:t>
            </a:r>
          </a:p>
          <a:p>
            <a:pPr algn="ctr"/>
            <a:r>
              <a:rPr lang="en-US" sz="1220" b="1" dirty="0">
                <a:solidFill>
                  <a:srgbClr val="08008F"/>
                </a:solidFill>
                <a:latin typeface="Aptos" panose="020B0004020202020204" pitchFamily="34" charset="0"/>
              </a:rPr>
              <a:t>Governance</a:t>
            </a:r>
          </a:p>
          <a:p>
            <a:pPr algn="ctr"/>
            <a:r>
              <a:rPr lang="en-US" sz="1220" b="1" dirty="0">
                <a:solidFill>
                  <a:srgbClr val="08008F"/>
                </a:solidFill>
                <a:latin typeface="Aptos" panose="020B0004020202020204" pitchFamily="34" charset="0"/>
              </a:rPr>
              <a:t>Focus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6E29E424-19C1-1287-8E44-E6F3153F5192}"/>
              </a:ext>
            </a:extLst>
          </p:cNvPr>
          <p:cNvSpPr/>
          <p:nvPr/>
        </p:nvSpPr>
        <p:spPr>
          <a:xfrm>
            <a:off x="7873577" y="1851799"/>
            <a:ext cx="3403600" cy="3314700"/>
          </a:xfrm>
          <a:prstGeom prst="rect">
            <a:avLst/>
          </a:prstGeom>
          <a:solidFill>
            <a:srgbClr val="FFFFFF"/>
          </a:solidFill>
          <a:ln w="1524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204A0CA-677C-7852-4E11-82D26FD39898}"/>
              </a:ext>
            </a:extLst>
          </p:cNvPr>
          <p:cNvSpPr/>
          <p:nvPr/>
        </p:nvSpPr>
        <p:spPr>
          <a:xfrm>
            <a:off x="7873577" y="1851799"/>
            <a:ext cx="3403600" cy="482600"/>
          </a:xfrm>
          <a:prstGeom prst="rect">
            <a:avLst/>
          </a:prstGeom>
          <a:solidFill>
            <a:srgbClr val="08008F"/>
          </a:solidFill>
          <a:ln w="0">
            <a:solidFill>
              <a:srgbClr val="6C82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8DF194E-A007-B650-E960-ABEF72D2D432}"/>
              </a:ext>
            </a:extLst>
          </p:cNvPr>
          <p:cNvSpPr txBox="1"/>
          <p:nvPr/>
        </p:nvSpPr>
        <p:spPr>
          <a:xfrm>
            <a:off x="7937438" y="1977071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80" b="1" dirty="0">
                <a:solidFill>
                  <a:schemeClr val="bg1"/>
                </a:solidFill>
                <a:latin typeface="Aptos" panose="020B0004020202020204" pitchFamily="34" charset="0"/>
              </a:rPr>
              <a:t>Strategic Value Delivered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3984ECF-DC8B-BCEA-D27E-F035A53D63D7}"/>
              </a:ext>
            </a:extLst>
          </p:cNvPr>
          <p:cNvSpPr txBox="1"/>
          <p:nvPr/>
        </p:nvSpPr>
        <p:spPr>
          <a:xfrm>
            <a:off x="8076777" y="2168747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30" b="1" dirty="0">
                <a:solidFill>
                  <a:srgbClr val="08008F"/>
                </a:solidFill>
                <a:latin typeface="Aptos" panose="020B0004020202020204" pitchFamily="34" charset="0"/>
              </a:rPr>
              <a:t>(Outcome Accountability)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C3B37CE6-EC9B-AF16-F9E2-75348572E177}"/>
              </a:ext>
            </a:extLst>
          </p:cNvPr>
          <p:cNvSpPr/>
          <p:nvPr/>
        </p:nvSpPr>
        <p:spPr>
          <a:xfrm>
            <a:off x="8076777" y="2761965"/>
            <a:ext cx="228600" cy="228600"/>
          </a:xfrm>
          <a:prstGeom prst="ellipse">
            <a:avLst/>
          </a:prstGeom>
          <a:solidFill>
            <a:srgbClr val="08008F"/>
          </a:solidFill>
          <a:ln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FFFC684-FC49-60DA-32FC-24F99C519032}"/>
              </a:ext>
            </a:extLst>
          </p:cNvPr>
          <p:cNvSpPr txBox="1"/>
          <p:nvPr/>
        </p:nvSpPr>
        <p:spPr>
          <a:xfrm>
            <a:off x="8132657" y="2789905"/>
            <a:ext cx="1143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50" b="1" dirty="0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A0A61F-6E7B-DAEC-45C2-1E965157BA6B}"/>
              </a:ext>
            </a:extLst>
          </p:cNvPr>
          <p:cNvSpPr txBox="1"/>
          <p:nvPr/>
        </p:nvSpPr>
        <p:spPr>
          <a:xfrm>
            <a:off x="8457777" y="2749265"/>
            <a:ext cx="233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Centralize governance and quality assurance for enterprise RFPs, improving quality and evaluation consistency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47C727F-BB45-5455-5214-CB08DDFBA365}"/>
              </a:ext>
            </a:extLst>
          </p:cNvPr>
          <p:cNvSpPr/>
          <p:nvPr/>
        </p:nvSpPr>
        <p:spPr>
          <a:xfrm>
            <a:off x="8457777" y="3147199"/>
            <a:ext cx="2311400" cy="8890"/>
          </a:xfrm>
          <a:prstGeom prst="rect">
            <a:avLst/>
          </a:prstGeom>
          <a:solidFill>
            <a:srgbClr val="E0E8F2"/>
          </a:solidFill>
          <a:ln w="0">
            <a:solidFill>
              <a:srgbClr val="E0E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36049897-B12F-BD97-B157-9F34C1C2BB69}"/>
              </a:ext>
            </a:extLst>
          </p:cNvPr>
          <p:cNvSpPr/>
          <p:nvPr/>
        </p:nvSpPr>
        <p:spPr>
          <a:xfrm>
            <a:off x="8076777" y="3334876"/>
            <a:ext cx="228600" cy="228600"/>
          </a:xfrm>
          <a:prstGeom prst="ellipse">
            <a:avLst/>
          </a:prstGeom>
          <a:solidFill>
            <a:srgbClr val="08008F"/>
          </a:solidFill>
          <a:ln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BEB5CF8-6180-81F1-A3E4-7E9EF6D2A1E8}"/>
              </a:ext>
            </a:extLst>
          </p:cNvPr>
          <p:cNvSpPr txBox="1"/>
          <p:nvPr/>
        </p:nvSpPr>
        <p:spPr>
          <a:xfrm>
            <a:off x="8132657" y="3378339"/>
            <a:ext cx="114300" cy="16551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3915B70-0BE1-7492-6BA2-BF821AD77F9B}"/>
              </a:ext>
            </a:extLst>
          </p:cNvPr>
          <p:cNvSpPr txBox="1"/>
          <p:nvPr/>
        </p:nvSpPr>
        <p:spPr>
          <a:xfrm>
            <a:off x="8457777" y="3337701"/>
            <a:ext cx="233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Reduce downstream delays, rework, and compliance gaps through structured execution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454D0CF9-5ABF-2BEF-B195-D992E06508C0}"/>
              </a:ext>
            </a:extLst>
          </p:cNvPr>
          <p:cNvSpPr/>
          <p:nvPr/>
        </p:nvSpPr>
        <p:spPr>
          <a:xfrm>
            <a:off x="8457777" y="3727166"/>
            <a:ext cx="2311400" cy="8890"/>
          </a:xfrm>
          <a:prstGeom prst="rect">
            <a:avLst/>
          </a:prstGeom>
          <a:solidFill>
            <a:srgbClr val="E0E8F2"/>
          </a:solidFill>
          <a:ln w="0">
            <a:solidFill>
              <a:srgbClr val="E0E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D486A443-2710-B2BE-79FD-7EC7F35E8BC9}"/>
              </a:ext>
            </a:extLst>
          </p:cNvPr>
          <p:cNvSpPr/>
          <p:nvPr/>
        </p:nvSpPr>
        <p:spPr>
          <a:xfrm>
            <a:off x="8076777" y="3907787"/>
            <a:ext cx="228600" cy="228600"/>
          </a:xfrm>
          <a:prstGeom prst="ellipse">
            <a:avLst/>
          </a:prstGeom>
          <a:solidFill>
            <a:srgbClr val="08008F"/>
          </a:solidFill>
          <a:ln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7FB81FB-30D6-297D-7C16-9FF45C45F865}"/>
              </a:ext>
            </a:extLst>
          </p:cNvPr>
          <p:cNvSpPr txBox="1"/>
          <p:nvPr/>
        </p:nvSpPr>
        <p:spPr>
          <a:xfrm>
            <a:off x="8132657" y="3954072"/>
            <a:ext cx="114300" cy="18231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49609CE-9E55-CB6F-5982-395E5BDBC7C1}"/>
              </a:ext>
            </a:extLst>
          </p:cNvPr>
          <p:cNvSpPr txBox="1"/>
          <p:nvPr/>
        </p:nvSpPr>
        <p:spPr>
          <a:xfrm>
            <a:off x="8457777" y="3913432"/>
            <a:ext cx="233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Stronger cross-functional coordination across Business, Procurement, Legal, InfoSec, and Vendors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E05AE9E-B94E-74DB-9591-2839914F4EF4}"/>
              </a:ext>
            </a:extLst>
          </p:cNvPr>
          <p:cNvSpPr/>
          <p:nvPr/>
        </p:nvSpPr>
        <p:spPr>
          <a:xfrm>
            <a:off x="8457777" y="4324067"/>
            <a:ext cx="2311400" cy="8890"/>
          </a:xfrm>
          <a:prstGeom prst="rect">
            <a:avLst/>
          </a:prstGeom>
          <a:solidFill>
            <a:srgbClr val="E0E8F2"/>
          </a:solidFill>
          <a:ln w="0">
            <a:solidFill>
              <a:srgbClr val="E0E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0F1FFEA7-AF0A-D3BD-BEF2-A9EC631C824E}"/>
              </a:ext>
            </a:extLst>
          </p:cNvPr>
          <p:cNvSpPr/>
          <p:nvPr/>
        </p:nvSpPr>
        <p:spPr>
          <a:xfrm>
            <a:off x="8076777" y="4480699"/>
            <a:ext cx="228600" cy="228600"/>
          </a:xfrm>
          <a:prstGeom prst="ellipse">
            <a:avLst/>
          </a:prstGeom>
          <a:solidFill>
            <a:srgbClr val="08008F"/>
          </a:solidFill>
          <a:ln>
            <a:solidFill>
              <a:srgbClr val="0800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DB477CC-EE02-3C75-24D1-D3B7910C0D31}"/>
              </a:ext>
            </a:extLst>
          </p:cNvPr>
          <p:cNvSpPr txBox="1"/>
          <p:nvPr/>
        </p:nvSpPr>
        <p:spPr>
          <a:xfrm>
            <a:off x="8132657" y="4525571"/>
            <a:ext cx="1143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F549B09-A237-B0AE-5B6E-9723F32744E6}"/>
              </a:ext>
            </a:extLst>
          </p:cNvPr>
          <p:cNvSpPr txBox="1"/>
          <p:nvPr/>
        </p:nvSpPr>
        <p:spPr>
          <a:xfrm>
            <a:off x="8457777" y="4467999"/>
            <a:ext cx="2336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dirty="0">
                <a:solidFill>
                  <a:srgbClr val="161E2D"/>
                </a:solidFill>
                <a:latin typeface="Aptos" panose="020B0004020202020204" pitchFamily="34" charset="0"/>
              </a:rPr>
              <a:t>Enhance vendor selection and commercial governance, enabling operational scalability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9025783-5758-E3E1-4AAC-00110A6A4589}"/>
              </a:ext>
            </a:extLst>
          </p:cNvPr>
          <p:cNvSpPr/>
          <p:nvPr/>
        </p:nvSpPr>
        <p:spPr>
          <a:xfrm>
            <a:off x="317855" y="5336175"/>
            <a:ext cx="4070418" cy="352775"/>
          </a:xfrm>
          <a:prstGeom prst="rect">
            <a:avLst/>
          </a:prstGeom>
          <a:solidFill>
            <a:srgbClr val="F2F7FD"/>
          </a:solidFill>
          <a:ln w="10160">
            <a:solidFill>
              <a:srgbClr val="BFD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B6910C6-AE40-B20B-2FAF-6D5E6B2D4AA0}"/>
              </a:ext>
            </a:extLst>
          </p:cNvPr>
          <p:cNvSpPr txBox="1"/>
          <p:nvPr/>
        </p:nvSpPr>
        <p:spPr>
          <a:xfrm>
            <a:off x="345015" y="5353111"/>
            <a:ext cx="4009389" cy="31202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50" b="1" dirty="0">
                <a:solidFill>
                  <a:srgbClr val="08008F"/>
                </a:solidFill>
                <a:latin typeface="Aptos" panose="020B0004020202020204" pitchFamily="34" charset="0"/>
              </a:rPr>
              <a:t>Improves RFP quality, governance readiness, and evaluation consistency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AD9C0E04-6926-E3F4-C559-FC00A501E295}"/>
              </a:ext>
            </a:extLst>
          </p:cNvPr>
          <p:cNvSpPr txBox="1"/>
          <p:nvPr/>
        </p:nvSpPr>
        <p:spPr>
          <a:xfrm>
            <a:off x="609600" y="6553200"/>
            <a:ext cx="2476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80">
                <a:solidFill>
                  <a:srgbClr val="788291"/>
                </a:solidFill>
                <a:latin typeface="Aptos" panose="020B0004020202020204" pitchFamily="34" charset="0"/>
              </a:rPr>
              <a:t>Confidential - Internal Use Only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92391B5-8457-81FA-CE98-92FBC35BEFBF}"/>
              </a:ext>
            </a:extLst>
          </p:cNvPr>
          <p:cNvSpPr txBox="1"/>
          <p:nvPr/>
        </p:nvSpPr>
        <p:spPr>
          <a:xfrm>
            <a:off x="11239500" y="65151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750" b="1">
                <a:solidFill>
                  <a:srgbClr val="647082"/>
                </a:solidFill>
                <a:latin typeface="Aptos" panose="020B0004020202020204" pitchFamily="34" charset="0"/>
              </a:rPr>
              <a:t>01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497310" y="238760"/>
            <a:ext cx="264202" cy="571500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5D0A7E4A-5F64-4B10-B6C0-1166E7F7C50E}"/>
              </a:ext>
            </a:extLst>
          </p:cNvPr>
          <p:cNvSpPr/>
          <p:nvPr/>
        </p:nvSpPr>
        <p:spPr>
          <a:xfrm>
            <a:off x="305727" y="5835709"/>
            <a:ext cx="3990534" cy="293934"/>
          </a:xfrm>
          <a:prstGeom prst="rect">
            <a:avLst/>
          </a:prstGeom>
          <a:solidFill>
            <a:srgbClr val="F2F7FD"/>
          </a:solidFill>
          <a:ln w="10160">
            <a:solidFill>
              <a:srgbClr val="BFD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D5D07FE-278E-4077-97D7-5D9B5159E257}"/>
              </a:ext>
            </a:extLst>
          </p:cNvPr>
          <p:cNvSpPr txBox="1"/>
          <p:nvPr/>
        </p:nvSpPr>
        <p:spPr>
          <a:xfrm>
            <a:off x="352455" y="5844180"/>
            <a:ext cx="3805705" cy="29393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50" b="1" dirty="0">
                <a:solidFill>
                  <a:srgbClr val="08008F"/>
                </a:solidFill>
                <a:latin typeface="Aptos" panose="020B0004020202020204" pitchFamily="34" charset="0"/>
              </a:rPr>
              <a:t>Reduces delays, rework, and compliance gaps across RFP execution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6FE2D4C-DB0D-4468-B2AF-18AC78DDE166}"/>
              </a:ext>
            </a:extLst>
          </p:cNvPr>
          <p:cNvSpPr txBox="1"/>
          <p:nvPr/>
        </p:nvSpPr>
        <p:spPr>
          <a:xfrm>
            <a:off x="7932843" y="2368264"/>
            <a:ext cx="3292504" cy="26853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900" b="1" dirty="0">
                <a:latin typeface="Aptos" panose="020B0004020202020204" pitchFamily="34" charset="0"/>
              </a:rPr>
              <a:t>Strengthen governance, alignment, and vendor evaluation</a:t>
            </a:r>
          </a:p>
        </p:txBody>
      </p:sp>
    </p:spTree>
    <p:extLst>
      <p:ext uri="{BB962C8B-B14F-4D97-AF65-F5344CB8AC3E}">
        <p14:creationId xmlns:p14="http://schemas.microsoft.com/office/powerpoint/2010/main" val="1713004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63C7F-D0A1-74A4-DA1D-777980E48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8" name="Table 47">
            <a:extLst>
              <a:ext uri="{FF2B5EF4-FFF2-40B4-BE49-F238E27FC236}">
                <a16:creationId xmlns:a16="http://schemas.microsoft.com/office/drawing/2014/main" id="{B427449F-BDF9-7DBE-558B-7FF46D55ECBF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43301" y="856108"/>
          <a:ext cx="11081250" cy="5055167"/>
        </p:xfrm>
        <a:graphic>
          <a:graphicData uri="http://schemas.openxmlformats.org/drawingml/2006/table">
            <a:tbl>
              <a:tblPr/>
              <a:tblGrid>
                <a:gridCol w="1312682">
                  <a:extLst>
                    <a:ext uri="{9D8B030D-6E8A-4147-A177-3AD203B41FA5}">
                      <a16:colId xmlns:a16="http://schemas.microsoft.com/office/drawing/2014/main" val="3190571983"/>
                    </a:ext>
                  </a:extLst>
                </a:gridCol>
                <a:gridCol w="825718">
                  <a:extLst>
                    <a:ext uri="{9D8B030D-6E8A-4147-A177-3AD203B41FA5}">
                      <a16:colId xmlns:a16="http://schemas.microsoft.com/office/drawing/2014/main" val="3054866559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4192875480"/>
                    </a:ext>
                  </a:extLst>
                </a:gridCol>
                <a:gridCol w="673768">
                  <a:extLst>
                    <a:ext uri="{9D8B030D-6E8A-4147-A177-3AD203B41FA5}">
                      <a16:colId xmlns:a16="http://schemas.microsoft.com/office/drawing/2014/main" val="4162266288"/>
                    </a:ext>
                  </a:extLst>
                </a:gridCol>
                <a:gridCol w="4167739">
                  <a:extLst>
                    <a:ext uri="{9D8B030D-6E8A-4147-A177-3AD203B41FA5}">
                      <a16:colId xmlns:a16="http://schemas.microsoft.com/office/drawing/2014/main" val="1747197063"/>
                    </a:ext>
                  </a:extLst>
                </a:gridCol>
                <a:gridCol w="1270535">
                  <a:extLst>
                    <a:ext uri="{9D8B030D-6E8A-4147-A177-3AD203B41FA5}">
                      <a16:colId xmlns:a16="http://schemas.microsoft.com/office/drawing/2014/main" val="1317242690"/>
                    </a:ext>
                  </a:extLst>
                </a:gridCol>
                <a:gridCol w="2282168">
                  <a:extLst>
                    <a:ext uri="{9D8B030D-6E8A-4147-A177-3AD203B41FA5}">
                      <a16:colId xmlns:a16="http://schemas.microsoft.com/office/drawing/2014/main" val="4158583467"/>
                    </a:ext>
                  </a:extLst>
                </a:gridCol>
              </a:tblGrid>
              <a:tr h="667445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800"/>
                        </a:lnSpc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Initiatives/Project/Demand</a:t>
                      </a:r>
                      <a:endParaRPr lang="en-US" sz="1400" b="1" i="0" dirty="0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234" marR="70234" marT="35117" marB="35117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9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800"/>
                        </a:lnSpc>
                        <a:buNone/>
                      </a:pPr>
                      <a:r>
                        <a:rPr lang="en-US" sz="1400" b="1" i="0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Project/Demand ID/BAU</a:t>
                      </a:r>
                    </a:p>
                  </a:txBody>
                  <a:tcPr marL="70234" marR="70234" marT="35117" marB="35117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9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800"/>
                        </a:lnSpc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Start Date</a:t>
                      </a:r>
                      <a:endParaRPr lang="en-US" sz="1400" b="1" i="0" dirty="0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234" marR="70234" marT="35117" marB="35117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9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800"/>
                        </a:lnSpc>
                        <a:buNone/>
                      </a:pPr>
                      <a:r>
                        <a:rPr lang="en-US" sz="1400" b="1" i="0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End Date</a:t>
                      </a:r>
                    </a:p>
                  </a:txBody>
                  <a:tcPr marL="70234" marR="70234" marT="35117" marB="35117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9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800"/>
                        </a:lnSpc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Business KPI</a:t>
                      </a:r>
                      <a:endParaRPr lang="en-US" sz="1400" b="1" i="0" dirty="0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234" marR="70234" marT="35117" marB="35117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ts val="18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Current Status</a:t>
                      </a:r>
                    </a:p>
                  </a:txBody>
                  <a:tcPr marL="70234" marR="70234" marT="35117" marB="35117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ts val="18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KPI Planned</a:t>
                      </a:r>
                    </a:p>
                  </a:txBody>
                  <a:tcPr marL="70234" marR="70234" marT="35117" marB="35117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4727972"/>
                  </a:ext>
                </a:extLst>
              </a:tr>
              <a:tr h="1077339">
                <a:tc>
                  <a:txBody>
                    <a:bodyPr/>
                    <a:lstStyle/>
                    <a:p>
                      <a:pPr lvl="0" algn="l">
                        <a:defRPr/>
                      </a:pPr>
                      <a:endParaRPr lang="en-US" sz="1100" b="1" i="1" dirty="0"/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ts val="16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dirty="0"/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650"/>
                        </a:lnSpc>
                        <a:buNone/>
                      </a:pPr>
                      <a:endParaRPr lang="en-US" sz="11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650"/>
                        </a:lnSpc>
                        <a:buNone/>
                      </a:pPr>
                      <a:endParaRPr lang="en-US" sz="11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650"/>
                        </a:lnSpc>
                        <a:buNone/>
                      </a:pPr>
                      <a:endParaRPr lang="en-US" sz="11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650"/>
                        </a:lnSpc>
                        <a:buNone/>
                      </a:pPr>
                      <a:endParaRPr lang="en-US" sz="11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n-US" sz="11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220479"/>
                  </a:ext>
                </a:extLst>
              </a:tr>
              <a:tr h="1077339">
                <a:tc>
                  <a:txBody>
                    <a:bodyPr/>
                    <a:lstStyle/>
                    <a:p>
                      <a:pPr algn="l" fontAlgn="base">
                        <a:lnSpc>
                          <a:spcPts val="1650"/>
                        </a:lnSpc>
                        <a:buNone/>
                      </a:pPr>
                      <a:endParaRPr lang="en-US" sz="11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ts val="16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650"/>
                        </a:lnSpc>
                        <a:buNone/>
                      </a:pPr>
                      <a:endParaRPr lang="en-US" sz="11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650"/>
                        </a:lnSpc>
                        <a:buNone/>
                      </a:pPr>
                      <a:endParaRPr lang="en-US" sz="11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650"/>
                        </a:lnSpc>
                        <a:buNone/>
                      </a:pPr>
                      <a:endParaRPr lang="en-US" sz="11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650"/>
                        </a:lnSpc>
                        <a:buNone/>
                      </a:pPr>
                      <a:endParaRPr lang="en-US" sz="11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629698"/>
                  </a:ext>
                </a:extLst>
              </a:tr>
              <a:tr h="1077339">
                <a:tc>
                  <a:txBody>
                    <a:bodyPr/>
                    <a:lstStyle/>
                    <a:p>
                      <a:pPr marL="0" algn="l" defTabSz="914400" rtl="0" eaLnBrk="1" fontAlgn="base" latinLnBrk="0" hangingPunct="1">
                        <a:lnSpc>
                          <a:spcPts val="1650"/>
                        </a:lnSpc>
                        <a:buNone/>
                      </a:pP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ts val="16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ase" latinLnBrk="0" hangingPunct="1">
                        <a:lnSpc>
                          <a:spcPts val="1650"/>
                        </a:lnSpc>
                        <a:buNone/>
                      </a:pP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ase" latinLnBrk="0" hangingPunct="1">
                        <a:lnSpc>
                          <a:spcPts val="1650"/>
                        </a:lnSpc>
                        <a:buNone/>
                      </a:pP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ase" latinLnBrk="0" hangingPunct="1">
                        <a:lnSpc>
                          <a:spcPts val="1650"/>
                        </a:lnSpc>
                        <a:buNone/>
                      </a:pP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650"/>
                        </a:lnSpc>
                        <a:buNone/>
                      </a:pPr>
                      <a:endParaRPr lang="en-US" sz="11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ts val="16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901330"/>
                  </a:ext>
                </a:extLst>
              </a:tr>
              <a:tr h="1077339">
                <a:tc>
                  <a:txBody>
                    <a:bodyPr/>
                    <a:lstStyle/>
                    <a:p>
                      <a:pPr marL="0" algn="l" defTabSz="914400" rtl="0" eaLnBrk="1" fontAlgn="base" latinLnBrk="0" hangingPunct="1">
                        <a:lnSpc>
                          <a:spcPts val="1650"/>
                        </a:lnSpc>
                        <a:buNone/>
                      </a:pP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ts val="16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ase" latinLnBrk="0" hangingPunct="1">
                        <a:lnSpc>
                          <a:spcPts val="1650"/>
                        </a:lnSpc>
                        <a:buNone/>
                      </a:pP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ase" latinLnBrk="0" hangingPunct="1">
                        <a:lnSpc>
                          <a:spcPts val="1650"/>
                        </a:lnSpc>
                        <a:buNone/>
                      </a:pP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ase" latinLnBrk="0" hangingPunct="1">
                        <a:lnSpc>
                          <a:spcPts val="1650"/>
                        </a:lnSpc>
                        <a:buNone/>
                      </a:pP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650"/>
                        </a:lnSpc>
                        <a:buNone/>
                      </a:pPr>
                      <a:endParaRPr lang="en-US" sz="11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ts val="16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234" marR="70234" marT="35117" marB="35117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6964303"/>
                  </a:ext>
                </a:extLst>
              </a:tr>
            </a:tbl>
          </a:graphicData>
        </a:graphic>
      </p:graphicFrame>
      <p:sp>
        <p:nvSpPr>
          <p:cNvPr id="8" name="Title 2">
            <a:extLst>
              <a:ext uri="{FF2B5EF4-FFF2-40B4-BE49-F238E27FC236}">
                <a16:creationId xmlns:a16="http://schemas.microsoft.com/office/drawing/2014/main" id="{97CF6CA3-D78B-EA98-8B77-A8F03447D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01" y="366420"/>
            <a:ext cx="8785652" cy="424725"/>
          </a:xfrm>
        </p:spPr>
        <p:txBody>
          <a:bodyPr/>
          <a:lstStyle/>
          <a:p>
            <a:r>
              <a:rPr lang="en-US" dirty="0">
                <a:solidFill>
                  <a:srgbClr val="00009F"/>
                </a:solidFill>
                <a:latin typeface="Bauhaus Harish wk Medium"/>
              </a:rPr>
              <a:t>ANNUAL PLAN(1/6)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2A97A43-29BF-57B1-58DF-0436BDC56868}"/>
              </a:ext>
            </a:extLst>
          </p:cNvPr>
          <p:cNvSpPr/>
          <p:nvPr/>
        </p:nvSpPr>
        <p:spPr>
          <a:xfrm>
            <a:off x="507999" y="301459"/>
            <a:ext cx="46036" cy="554649"/>
          </a:xfrm>
          <a:prstGeom prst="rect">
            <a:avLst/>
          </a:prstGeom>
          <a:solidFill>
            <a:srgbClr val="B3DFFF"/>
          </a:solidFill>
          <a:ln/>
        </p:spPr>
        <p:txBody>
          <a:bodyPr/>
          <a:lstStyle/>
          <a:p>
            <a:endParaRPr lang="en-US" sz="1092">
              <a:latin typeface="Bauhaus Harish wk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26619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5EA78701D9CB74A94E38252BAB16D34" ma:contentTypeVersion="15" ma:contentTypeDescription="Create a new document." ma:contentTypeScope="" ma:versionID="9cd3424a73fb776ce000b1b5bb13b20a">
  <xsd:schema xmlns:xsd="http://www.w3.org/2001/XMLSchema" xmlns:xs="http://www.w3.org/2001/XMLSchema" xmlns:p="http://schemas.microsoft.com/office/2006/metadata/properties" xmlns:ns3="bf2567e6-16f4-4c6b-b0e9-0ea0396e433b" xmlns:ns4="5add0bd2-c77a-462d-bf1b-4bc5b2b102e1" targetNamespace="http://schemas.microsoft.com/office/2006/metadata/properties" ma:root="true" ma:fieldsID="8df173fb0339a05726bf1a29330b6932" ns3:_="" ns4:_="">
    <xsd:import namespace="bf2567e6-16f4-4c6b-b0e9-0ea0396e433b"/>
    <xsd:import namespace="5add0bd2-c77a-462d-bf1b-4bc5b2b102e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DateTaken" minOccurs="0"/>
                <xsd:element ref="ns3:MediaLengthInSecond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67e6-16f4-4c6b-b0e9-0ea0396e433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9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add0bd2-c77a-462d-bf1b-4bc5b2b102e1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2567e6-16f4-4c6b-b0e9-0ea0396e433b" xsi:nil="true"/>
  </documentManagement>
</p:properties>
</file>

<file path=customXml/itemProps1.xml><?xml version="1.0" encoding="utf-8"?>
<ds:datastoreItem xmlns:ds="http://schemas.openxmlformats.org/officeDocument/2006/customXml" ds:itemID="{28CC51BB-D331-4CDD-97E6-CB0B0E67EC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2567e6-16f4-4c6b-b0e9-0ea0396e433b"/>
    <ds:schemaRef ds:uri="5add0bd2-c77a-462d-bf1b-4bc5b2b102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92866D3-1526-4D71-9582-9D31B12EEB9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5A92C3D-30CE-4122-A5A1-F31D39998A0D}">
  <ds:schemaRefs>
    <ds:schemaRef ds:uri="http://schemas.microsoft.com/office/2006/documentManagement/types"/>
    <ds:schemaRef ds:uri="bf2567e6-16f4-4c6b-b0e9-0ea0396e433b"/>
    <ds:schemaRef ds:uri="http://schemas.openxmlformats.org/package/2006/metadata/core-properties"/>
    <ds:schemaRef ds:uri="http://purl.org/dc/dcmitype/"/>
    <ds:schemaRef ds:uri="http://purl.org/dc/terms/"/>
    <ds:schemaRef ds:uri="5add0bd2-c77a-462d-bf1b-4bc5b2b102e1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803</Words>
  <Application>Microsoft Office PowerPoint</Application>
  <PresentationFormat>Widescreen</PresentationFormat>
  <Paragraphs>132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Arial</vt:lpstr>
      <vt:lpstr>Bauhaus Harish wk Medium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ANNUAL PLAN(1/6)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Rohit Agnihotri (Digital,ISC)(X-IGT Solutions)</dc:creator>
  <cp:lastModifiedBy>Rohit Agnihotri (Digital,ISC)(X-IGT Solutions)</cp:lastModifiedBy>
  <cp:revision>1</cp:revision>
  <dcterms:created xsi:type="dcterms:W3CDTF">2026-06-02T05:36:52Z</dcterms:created>
  <dcterms:modified xsi:type="dcterms:W3CDTF">2026-06-02T05:37:15Z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0x01010005EA78701D9CB74A94E38252BAB16D34</vt:lpwstr>
  </property>
</Properties>
</file>